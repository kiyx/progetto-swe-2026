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4"/>
  </p:sldMasterIdLst>
  <p:notesMasterIdLst>
    <p:notesMasterId r:id="rId13"/>
  </p:notesMasterIdLst>
  <p:sldIdLst>
    <p:sldId id="256" r:id="rId5"/>
    <p:sldId id="257" r:id="rId6"/>
    <p:sldId id="298" r:id="rId7"/>
    <p:sldId id="297" r:id="rId8"/>
    <p:sldId id="300" r:id="rId9"/>
    <p:sldId id="299" r:id="rId10"/>
    <p:sldId id="301" r:id="rId11"/>
    <p:sldId id="302" r:id="rId12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14"/>
      <p:bold r:id="rId15"/>
      <p:italic r:id="rId16"/>
      <p:boldItalic r:id="rId17"/>
    </p:embeddedFont>
    <p:embeddedFont>
      <p:font typeface="Roboto" panose="02000000000000000000" pitchFamily="2" charset="0"/>
      <p:regular r:id="rId18"/>
      <p:bold r:id="rId19"/>
      <p:italic r:id="rId20"/>
      <p:boldItalic r:id="rId21"/>
    </p:embeddedFont>
    <p:embeddedFont>
      <p:font typeface="Segoe UI" panose="020B0502040204020203" pitchFamily="34" charset="0"/>
      <p:regular r:id="rId22"/>
      <p:bold r:id="rId23"/>
      <p:italic r:id="rId24"/>
      <p:boldItalic r:id="rId25"/>
    </p:embeddedFont>
    <p:embeddedFont>
      <p:font typeface="Segoe UI Black" panose="020B0A02040204020203" pitchFamily="34" charset="0"/>
      <p:bold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FAB206A-A3FE-4D52-B58A-7ECEB0C09ACE}" v="860" dt="2026-01-21T18:42:25.039"/>
    <p1510:client id="{4D4054BC-9553-4F8F-AEDE-6EE319943A84}" v="2713" dt="2026-01-21T18:46:37.699"/>
  </p1510:revLst>
</p1510:revInfo>
</file>

<file path=ppt/tableStyles.xml><?xml version="1.0" encoding="utf-8"?>
<a:tblStyleLst xmlns:a="http://schemas.openxmlformats.org/drawingml/2006/main" def="{C54C9111-60C2-4D5A-9001-23935F9D4747}">
  <a:tblStyle styleId="{C54C9111-60C2-4D5A-9001-23935F9D474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09559A69-E68B-49A7-A958-843418CE869A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7" d="100"/>
          <a:sy n="117" d="100"/>
        </p:scale>
        <p:origin x="47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font" Target="fonts/font13.fntdata"/><Relationship Id="rId3" Type="http://schemas.openxmlformats.org/officeDocument/2006/relationships/customXml" Target="../customXml/item3.xml"/><Relationship Id="rId21" Type="http://schemas.openxmlformats.org/officeDocument/2006/relationships/font" Target="fonts/font8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2" Type="http://schemas.openxmlformats.org/officeDocument/2006/relationships/customXml" Target="../customXml/item2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11.fntdata"/><Relationship Id="rId32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font" Target="fonts/font6.fntdata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font" Target="fonts/font14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it-IT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it-IT"/>
          </a:p>
        </p:txBody>
      </p:sp>
      <p:sp>
        <p:nvSpPr>
          <p:cNvPr id="59" name="Google Shape;59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it-IT"/>
          </a:p>
        </p:txBody>
      </p:sp>
      <p:sp>
        <p:nvSpPr>
          <p:cNvPr id="64" name="Google Shape;64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>
          <a:extLst>
            <a:ext uri="{FF2B5EF4-FFF2-40B4-BE49-F238E27FC236}">
              <a16:creationId xmlns:a16="http://schemas.microsoft.com/office/drawing/2014/main" id="{18A04AF0-C39F-9558-1A59-C122C5462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606f1c2d_30:notes">
            <a:extLst>
              <a:ext uri="{FF2B5EF4-FFF2-40B4-BE49-F238E27FC236}">
                <a16:creationId xmlns:a16="http://schemas.microsoft.com/office/drawing/2014/main" id="{2CF9DFA2-A83B-79CC-5CB4-CCB1FC93479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it-IT"/>
          </a:p>
        </p:txBody>
      </p:sp>
      <p:sp>
        <p:nvSpPr>
          <p:cNvPr id="64" name="Google Shape;64;g3606f1c2d_30:notes">
            <a:extLst>
              <a:ext uri="{FF2B5EF4-FFF2-40B4-BE49-F238E27FC236}">
                <a16:creationId xmlns:a16="http://schemas.microsoft.com/office/drawing/2014/main" id="{40F4577B-0F50-E81D-038A-DAF84B0728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09324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>
          <a:extLst>
            <a:ext uri="{FF2B5EF4-FFF2-40B4-BE49-F238E27FC236}">
              <a16:creationId xmlns:a16="http://schemas.microsoft.com/office/drawing/2014/main" id="{C86648D4-06DC-0715-60C2-37A03B5C28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606f1c2d_30:notes">
            <a:extLst>
              <a:ext uri="{FF2B5EF4-FFF2-40B4-BE49-F238E27FC236}">
                <a16:creationId xmlns:a16="http://schemas.microsoft.com/office/drawing/2014/main" id="{6E34D1EC-8F55-B3BC-1B00-DB5C9ED70D3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it-IT"/>
          </a:p>
        </p:txBody>
      </p:sp>
      <p:sp>
        <p:nvSpPr>
          <p:cNvPr id="64" name="Google Shape;64;g3606f1c2d_30:notes">
            <a:extLst>
              <a:ext uri="{FF2B5EF4-FFF2-40B4-BE49-F238E27FC236}">
                <a16:creationId xmlns:a16="http://schemas.microsoft.com/office/drawing/2014/main" id="{B41B8099-43D3-6F46-F87C-0A6C28E1D2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652567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solidFill>
          <a:schemeClr val="accen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 descr="aemelia_icons.png"/>
          <p:cNvPicPr preferRelativeResize="0"/>
          <p:nvPr/>
        </p:nvPicPr>
        <p:blipFill rotWithShape="1">
          <a:blip r:embed="rId2">
            <a:alphaModFix amt="40000"/>
          </a:blip>
          <a:srcRect t="30860" b="30860"/>
          <a:stretch/>
        </p:blipFill>
        <p:spPr>
          <a:xfrm>
            <a:off x="0" y="-2"/>
            <a:ext cx="9144000" cy="1968874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2786525" y="1968875"/>
            <a:ext cx="5859600" cy="276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_AND_TWO_COLUMNS">
    <p:bg>
      <p:bgPr>
        <a:solidFill>
          <a:schemeClr val="accent1"/>
        </a:solidFill>
        <a:effectLst/>
      </p:bgPr>
    </p:bg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6" descr="aemelia_icons.png"/>
          <p:cNvPicPr preferRelativeResize="0"/>
          <p:nvPr/>
        </p:nvPicPr>
        <p:blipFill rotWithShape="1">
          <a:blip r:embed="rId2">
            <a:alphaModFix amt="20000"/>
          </a:blip>
          <a:srcRect l="38542" r="38544"/>
          <a:stretch/>
        </p:blipFill>
        <p:spPr>
          <a:xfrm>
            <a:off x="0" y="0"/>
            <a:ext cx="20952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6"/>
          <p:cNvSpPr/>
          <p:nvPr/>
        </p:nvSpPr>
        <p:spPr>
          <a:xfrm flipH="1">
            <a:off x="2095200" y="0"/>
            <a:ext cx="7048800" cy="51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</a:endParaRPr>
          </a:p>
        </p:txBody>
      </p:sp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203875" y="1626750"/>
            <a:ext cx="1712400" cy="85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body" idx="1"/>
          </p:nvPr>
        </p:nvSpPr>
        <p:spPr>
          <a:xfrm>
            <a:off x="2544225" y="297367"/>
            <a:ext cx="2981400" cy="466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SzPts val="2400"/>
              <a:buChar char="▸"/>
              <a:defRPr sz="2400"/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SzPts val="2400"/>
              <a:buChar char="▹"/>
              <a:defRPr/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marL="1828800" lvl="3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marL="2286000" lvl="4" indent="-3810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marL="2743200" lvl="5" indent="-3810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marL="3200400" lvl="6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marL="3657600" lvl="7" indent="-3810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marL="4114800" lvl="8" indent="-3810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body" idx="2"/>
          </p:nvPr>
        </p:nvSpPr>
        <p:spPr>
          <a:xfrm>
            <a:off x="5705276" y="297367"/>
            <a:ext cx="2981400" cy="466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SzPts val="2400"/>
              <a:buChar char="▸"/>
              <a:defRPr sz="2400"/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SzPts val="2400"/>
              <a:buChar char="▹"/>
              <a:defRPr/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marL="1828800" lvl="3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marL="2286000" lvl="4" indent="-3810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marL="2743200" lvl="5" indent="-3810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marL="3200400" lvl="6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marL="3657600" lvl="7" indent="-3810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marL="4114800" lvl="8" indent="-3810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sldNum" idx="12"/>
          </p:nvPr>
        </p:nvSpPr>
        <p:spPr>
          <a:xfrm>
            <a:off x="109075" y="146024"/>
            <a:ext cx="1807200" cy="125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 + 1 column">
    <p:bg>
      <p:bgPr>
        <a:solidFill>
          <a:schemeClr val="accent1"/>
        </a:solidFill>
        <a:effectLst/>
      </p:bgPr>
    </p:bg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5" descr="aemelia_icons.png"/>
          <p:cNvPicPr preferRelativeResize="0"/>
          <p:nvPr/>
        </p:nvPicPr>
        <p:blipFill rotWithShape="1">
          <a:blip r:embed="rId2">
            <a:alphaModFix amt="20000"/>
          </a:blip>
          <a:srcRect l="38542" r="38544"/>
          <a:stretch/>
        </p:blipFill>
        <p:spPr>
          <a:xfrm>
            <a:off x="0" y="0"/>
            <a:ext cx="20952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5"/>
          <p:cNvSpPr/>
          <p:nvPr/>
        </p:nvSpPr>
        <p:spPr>
          <a:xfrm flipH="1">
            <a:off x="2095200" y="0"/>
            <a:ext cx="7048800" cy="51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</a:endParaRPr>
          </a:p>
        </p:txBody>
      </p:sp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203875" y="1626750"/>
            <a:ext cx="1712400" cy="85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2874625" y="275339"/>
            <a:ext cx="5562000" cy="442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19100">
              <a:spcBef>
                <a:spcPts val="600"/>
              </a:spcBef>
              <a:spcAft>
                <a:spcPts val="0"/>
              </a:spcAft>
              <a:buClr>
                <a:srgbClr val="6FA8DC"/>
              </a:buClr>
              <a:buSzPts val="3000"/>
              <a:buChar char="▸"/>
              <a:defRPr/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Clr>
                <a:srgbClr val="6FA8DC"/>
              </a:buClr>
              <a:buSzPts val="2400"/>
              <a:buChar char="▹"/>
              <a:defRPr/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Clr>
                <a:srgbClr val="6FA8DC"/>
              </a:buClr>
              <a:buSzPts val="2400"/>
              <a:buChar char="■"/>
              <a:defRPr/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Clr>
                <a:srgbClr val="6FA8DC"/>
              </a:buClr>
              <a:buSzPts val="1800"/>
              <a:buChar char="●"/>
              <a:defRPr/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sldNum" idx="12"/>
          </p:nvPr>
        </p:nvSpPr>
        <p:spPr>
          <a:xfrm>
            <a:off x="109075" y="146024"/>
            <a:ext cx="1807200" cy="125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151057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color">
  <p:cSld name="Blank color">
    <p:bg>
      <p:bgPr>
        <a:solidFill>
          <a:schemeClr val="accent1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2"/>
          <p:cNvSpPr txBox="1">
            <a:spLocks noGrp="1"/>
          </p:cNvSpPr>
          <p:nvPr>
            <p:ph type="sldNum" idx="12"/>
          </p:nvPr>
        </p:nvSpPr>
        <p:spPr>
          <a:xfrm>
            <a:off x="109075" y="146024"/>
            <a:ext cx="1807200" cy="125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697192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body" idx="1"/>
          </p:nvPr>
        </p:nvSpPr>
        <p:spPr>
          <a:xfrm>
            <a:off x="2874625" y="484600"/>
            <a:ext cx="5562000" cy="42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19100"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Roboto"/>
              <a:buChar char="▸"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Roboto"/>
              <a:buChar char="▹"/>
              <a:defRPr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Roboto"/>
              <a:buChar char="■"/>
              <a:defRPr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sldNum" idx="12"/>
          </p:nvPr>
        </p:nvSpPr>
        <p:spPr>
          <a:xfrm>
            <a:off x="109075" y="146024"/>
            <a:ext cx="1807200" cy="125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 sz="9600" b="1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buNone/>
              <a:defRPr sz="9600" b="1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buNone/>
              <a:defRPr sz="9600" b="1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buNone/>
              <a:defRPr sz="9600" b="1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buNone/>
              <a:defRPr sz="9600" b="1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buNone/>
              <a:defRPr sz="9600" b="1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buNone/>
              <a:defRPr sz="9600" b="1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buNone/>
              <a:defRPr sz="9600" b="1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buNone/>
              <a:defRPr sz="9600" b="1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‹N›</a:t>
            </a:fld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title"/>
          </p:nvPr>
        </p:nvSpPr>
        <p:spPr>
          <a:xfrm>
            <a:off x="203875" y="1626750"/>
            <a:ext cx="171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None/>
              <a:defRPr sz="18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None/>
              <a:defRPr sz="18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None/>
              <a:defRPr sz="18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None/>
              <a:defRPr sz="18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None/>
              <a:defRPr sz="18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None/>
              <a:defRPr sz="18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None/>
              <a:defRPr sz="18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None/>
              <a:defRPr sz="18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None/>
              <a:defRPr sz="18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2" r:id="rId2"/>
    <p:sldLayoutId id="2147483663" r:id="rId3"/>
    <p:sldLayoutId id="2147483664" r:id="rId4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3"/>
          <p:cNvSpPr txBox="1">
            <a:spLocks noGrp="1"/>
          </p:cNvSpPr>
          <p:nvPr>
            <p:ph type="ctrTitle"/>
          </p:nvPr>
        </p:nvSpPr>
        <p:spPr>
          <a:xfrm>
            <a:off x="3990587" y="3330243"/>
            <a:ext cx="4986772" cy="56594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egoe UI" panose="020B0502040204020203" pitchFamily="34" charset="0"/>
                <a:cs typeface="Segoe UI" panose="020B0502040204020203" pitchFamily="34" charset="0"/>
              </a:rPr>
              <a:t>BUGBOARD26</a:t>
            </a:r>
            <a:br>
              <a:rPr lang="en"/>
            </a:br>
            <a:endParaRPr/>
          </a:p>
        </p:txBody>
      </p:sp>
      <p:pic>
        <p:nvPicPr>
          <p:cNvPr id="3" name="Immagine 2" descr="Immagine che contiene simbolo, cerchio, Elementi grafici, logo&#10;&#10;Il contenuto generato dall'IA potrebbe non essere corretto.">
            <a:extLst>
              <a:ext uri="{FF2B5EF4-FFF2-40B4-BE49-F238E27FC236}">
                <a16:creationId xmlns:a16="http://schemas.microsoft.com/office/drawing/2014/main" id="{16D7B851-E259-C3EE-7B9D-E32CAAAA94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641" y="1926499"/>
            <a:ext cx="3172059" cy="3097545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AE074261-139C-85C0-2F9D-D133B41C970F}"/>
              </a:ext>
            </a:extLst>
          </p:cNvPr>
          <p:cNvSpPr txBox="1"/>
          <p:nvPr/>
        </p:nvSpPr>
        <p:spPr>
          <a:xfrm>
            <a:off x="4727563" y="3967160"/>
            <a:ext cx="4572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8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Gruppo:</a:t>
            </a:r>
            <a:r>
              <a:rPr lang="it-IT" sz="18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it-IT" sz="18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INGSW_005</a:t>
            </a:r>
            <a:br>
              <a:rPr lang="it-IT" sz="18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it-IT" sz="18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Virginia Antonia Esposito – N86004987</a:t>
            </a:r>
            <a:br>
              <a:rPr lang="it-IT" sz="18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it-IT" sz="18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Giuseppe Paolo Esposito – N86005174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C6A20BEC-BC0B-9472-0AED-C16CCC0E1563}"/>
              </a:ext>
            </a:extLst>
          </p:cNvPr>
          <p:cNvSpPr txBox="1"/>
          <p:nvPr/>
        </p:nvSpPr>
        <p:spPr>
          <a:xfrm>
            <a:off x="4727563" y="2966886"/>
            <a:ext cx="42497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800" i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piattaforma per la gestione collaborativa di issue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>
            <a:spLocks noGrp="1"/>
          </p:cNvSpPr>
          <p:nvPr>
            <p:ph type="sldNum" idx="12"/>
          </p:nvPr>
        </p:nvSpPr>
        <p:spPr>
          <a:xfrm>
            <a:off x="109075" y="146024"/>
            <a:ext cx="1807200" cy="125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title"/>
          </p:nvPr>
        </p:nvSpPr>
        <p:spPr>
          <a:xfrm>
            <a:off x="109075" y="1611510"/>
            <a:ext cx="1882800" cy="85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700">
                <a:latin typeface="Segoe UI" panose="020B0502040204020203" pitchFamily="34" charset="0"/>
                <a:cs typeface="Segoe UI" panose="020B0502040204020203" pitchFamily="34" charset="0"/>
              </a:rPr>
              <a:t>Architettura del sistema</a:t>
            </a:r>
            <a:endParaRPr sz="17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2" name="Immagine 1" descr="Immagine che contiene testo, schermata, diagramma, Carattere&#10;&#10;Il contenuto generato dall&amp;#39;IA potrebbe non essere corretto.">
            <a:extLst>
              <a:ext uri="{FF2B5EF4-FFF2-40B4-BE49-F238E27FC236}">
                <a16:creationId xmlns:a16="http://schemas.microsoft.com/office/drawing/2014/main" id="{9985D5E4-83FB-AEFB-FDE1-634F9036989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217" b="233"/>
          <a:stretch>
            <a:fillRect/>
          </a:stretch>
        </p:blipFill>
        <p:spPr>
          <a:xfrm>
            <a:off x="2431025" y="0"/>
            <a:ext cx="6536970" cy="4920625"/>
          </a:xfrm>
          <a:prstGeom prst="rect">
            <a:avLst/>
          </a:prstGeom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39981182-3DBE-742C-C927-D1F11D90B917}"/>
              </a:ext>
            </a:extLst>
          </p:cNvPr>
          <p:cNvSpPr txBox="1"/>
          <p:nvPr/>
        </p:nvSpPr>
        <p:spPr>
          <a:xfrm>
            <a:off x="6273286" y="3270078"/>
            <a:ext cx="2870714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 algn="l">
              <a:buChar char="•"/>
            </a:pPr>
            <a:r>
              <a:rPr lang="it-IT" sz="2000" b="1" dirty="0">
                <a:solidFill>
                  <a:srgbClr val="003366"/>
                </a:solidFill>
                <a:latin typeface="Segoe UI"/>
                <a:cs typeface="Segoe UI"/>
              </a:rPr>
              <a:t>Client-Server</a:t>
            </a:r>
          </a:p>
          <a:p>
            <a:pPr marL="285750" indent="-285750">
              <a:buChar char="•"/>
            </a:pPr>
            <a:r>
              <a:rPr lang="it-IT" sz="2000" b="1" dirty="0">
                <a:solidFill>
                  <a:srgbClr val="003366"/>
                </a:solidFill>
                <a:latin typeface="Segoe UI"/>
                <a:cs typeface="Segoe UI"/>
              </a:rPr>
              <a:t>Low </a:t>
            </a:r>
            <a:r>
              <a:rPr lang="it-IT" sz="2000" b="1" err="1">
                <a:solidFill>
                  <a:srgbClr val="003366"/>
                </a:solidFill>
                <a:latin typeface="Segoe UI"/>
                <a:cs typeface="Segoe UI"/>
              </a:rPr>
              <a:t>Coupling</a:t>
            </a:r>
            <a:endParaRPr lang="it-IT" sz="2000" b="1">
              <a:solidFill>
                <a:srgbClr val="003366"/>
              </a:solidFill>
              <a:latin typeface="Segoe UI"/>
              <a:cs typeface="Segoe UI"/>
            </a:endParaRPr>
          </a:p>
          <a:p>
            <a:pPr marL="285750" indent="-285750">
              <a:buChar char="•"/>
            </a:pPr>
            <a:r>
              <a:rPr lang="it-IT" sz="2000" b="1" dirty="0">
                <a:solidFill>
                  <a:srgbClr val="003366"/>
                </a:solidFill>
                <a:latin typeface="Segoe UI"/>
                <a:cs typeface="Segoe UI"/>
              </a:rPr>
              <a:t>Pattern Architetturale REST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466177DF-16BD-83CC-01C5-7C99F3DD50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3135" y="339056"/>
            <a:ext cx="1415325" cy="102387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cxnSp>
        <p:nvCxnSpPr>
          <p:cNvPr id="12" name="Connettore curvo 11">
            <a:extLst>
              <a:ext uri="{FF2B5EF4-FFF2-40B4-BE49-F238E27FC236}">
                <a16:creationId xmlns:a16="http://schemas.microsoft.com/office/drawing/2014/main" id="{71A296A9-EBC3-ADA4-99E1-9ED1B01CBB4B}"/>
              </a:ext>
            </a:extLst>
          </p:cNvPr>
          <p:cNvCxnSpPr>
            <a:cxnSpLocks/>
            <a:endCxn id="4" idx="3"/>
          </p:cNvCxnSpPr>
          <p:nvPr/>
        </p:nvCxnSpPr>
        <p:spPr>
          <a:xfrm rot="10800000">
            <a:off x="4298461" y="850991"/>
            <a:ext cx="2314841" cy="653100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6" name="Immagine 15">
            <a:extLst>
              <a:ext uri="{FF2B5EF4-FFF2-40B4-BE49-F238E27FC236}">
                <a16:creationId xmlns:a16="http://schemas.microsoft.com/office/drawing/2014/main" id="{1506157F-B908-0C02-12DD-6BF4C2D58F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09376" y="40288"/>
            <a:ext cx="1912035" cy="81070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18" name="Connettore curvo 17">
            <a:extLst>
              <a:ext uri="{FF2B5EF4-FFF2-40B4-BE49-F238E27FC236}">
                <a16:creationId xmlns:a16="http://schemas.microsoft.com/office/drawing/2014/main" id="{649D26CC-A521-932B-0123-60AB64A44447}"/>
              </a:ext>
            </a:extLst>
          </p:cNvPr>
          <p:cNvCxnSpPr>
            <a:cxnSpLocks/>
            <a:endCxn id="16" idx="3"/>
          </p:cNvCxnSpPr>
          <p:nvPr/>
        </p:nvCxnSpPr>
        <p:spPr>
          <a:xfrm rot="10800000">
            <a:off x="6821412" y="445641"/>
            <a:ext cx="938109" cy="299279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Connettore curvo 35">
            <a:extLst>
              <a:ext uri="{FF2B5EF4-FFF2-40B4-BE49-F238E27FC236}">
                <a16:creationId xmlns:a16="http://schemas.microsoft.com/office/drawing/2014/main" id="{D4066539-FE8F-2BFF-CBA0-C9B5D60EE231}"/>
              </a:ext>
            </a:extLst>
          </p:cNvPr>
          <p:cNvCxnSpPr>
            <a:cxnSpLocks/>
            <a:endCxn id="39" idx="3"/>
          </p:cNvCxnSpPr>
          <p:nvPr/>
        </p:nvCxnSpPr>
        <p:spPr>
          <a:xfrm rot="10800000" flipV="1">
            <a:off x="4651784" y="1925349"/>
            <a:ext cx="1903562" cy="285368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39" name="Immagine 38">
            <a:extLst>
              <a:ext uri="{FF2B5EF4-FFF2-40B4-BE49-F238E27FC236}">
                <a16:creationId xmlns:a16="http://schemas.microsoft.com/office/drawing/2014/main" id="{BAAD94AE-AFE5-7136-2C86-A7B8FA11B7D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31025" y="1925349"/>
            <a:ext cx="2220759" cy="57073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ransition spd="slow">
    <p:cov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Shape 65">
          <a:extLst>
            <a:ext uri="{FF2B5EF4-FFF2-40B4-BE49-F238E27FC236}">
              <a16:creationId xmlns:a16="http://schemas.microsoft.com/office/drawing/2014/main" id="{ED82B392-66C3-38BA-89AD-AA23E206B1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>
            <a:extLst>
              <a:ext uri="{FF2B5EF4-FFF2-40B4-BE49-F238E27FC236}">
                <a16:creationId xmlns:a16="http://schemas.microsoft.com/office/drawing/2014/main" id="{822920F8-65AC-B2BC-65B1-D04749AE9FF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9075" y="146024"/>
            <a:ext cx="1807200" cy="125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sp>
        <p:nvSpPr>
          <p:cNvPr id="70" name="Google Shape;70;p14">
            <a:extLst>
              <a:ext uri="{FF2B5EF4-FFF2-40B4-BE49-F238E27FC236}">
                <a16:creationId xmlns:a16="http://schemas.microsoft.com/office/drawing/2014/main" id="{5102ECB1-FEF6-CA7D-EB90-4958890282D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075" y="1611510"/>
            <a:ext cx="1882800" cy="85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700">
                <a:latin typeface="Segoe UI" panose="020B0502040204020203" pitchFamily="34" charset="0"/>
                <a:cs typeface="Segoe UI" panose="020B0502040204020203" pitchFamily="34" charset="0"/>
              </a:rPr>
              <a:t>Design del frontend</a:t>
            </a:r>
            <a:endParaRPr sz="17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Rettangolo con angoli arrotondati 1">
            <a:extLst>
              <a:ext uri="{FF2B5EF4-FFF2-40B4-BE49-F238E27FC236}">
                <a16:creationId xmlns:a16="http://schemas.microsoft.com/office/drawing/2014/main" id="{663E0562-D5EA-D64D-1F73-7EDE310C3719}"/>
              </a:ext>
            </a:extLst>
          </p:cNvPr>
          <p:cNvSpPr/>
          <p:nvPr/>
        </p:nvSpPr>
        <p:spPr>
          <a:xfrm>
            <a:off x="7732509" y="577893"/>
            <a:ext cx="1080357" cy="36933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latin typeface="Segoe UI" panose="020B0502040204020203" pitchFamily="34" charset="0"/>
                <a:cs typeface="Segoe UI" panose="020B0502040204020203" pitchFamily="34" charset="0"/>
              </a:rPr>
              <a:t>Model</a:t>
            </a:r>
          </a:p>
          <a:p>
            <a:pPr algn="ctr"/>
            <a:r>
              <a:rPr lang="it-IT" sz="800" dirty="0">
                <a:latin typeface="Segoe UI" panose="020B0502040204020203" pitchFamily="34" charset="0"/>
                <a:cs typeface="Segoe UI" panose="020B0502040204020203" pitchFamily="34" charset="0"/>
              </a:rPr>
              <a:t>aggiorna la </a:t>
            </a:r>
            <a:r>
              <a:rPr lang="it-IT" sz="800" dirty="0" err="1">
                <a:latin typeface="Segoe UI" panose="020B0502040204020203" pitchFamily="34" charset="0"/>
                <a:cs typeface="Segoe UI" panose="020B0502040204020203" pitchFamily="34" charset="0"/>
              </a:rPr>
              <a:t>View</a:t>
            </a:r>
            <a:endParaRPr lang="it-IT" sz="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Rettangolo con angoli arrotondati 7">
            <a:extLst>
              <a:ext uri="{FF2B5EF4-FFF2-40B4-BE49-F238E27FC236}">
                <a16:creationId xmlns:a16="http://schemas.microsoft.com/office/drawing/2014/main" id="{62F02B39-1688-0A82-6BBE-838BE711EB64}"/>
              </a:ext>
            </a:extLst>
          </p:cNvPr>
          <p:cNvSpPr/>
          <p:nvPr/>
        </p:nvSpPr>
        <p:spPr>
          <a:xfrm>
            <a:off x="7461519" y="1615114"/>
            <a:ext cx="1622339" cy="56383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latin typeface="Segoe UI" panose="020B0502040204020203" pitchFamily="34" charset="0"/>
                <a:cs typeface="Segoe UI" panose="020B0502040204020203" pitchFamily="34" charset="0"/>
              </a:rPr>
              <a:t>Controller</a:t>
            </a:r>
          </a:p>
          <a:p>
            <a:pPr algn="ctr"/>
            <a:r>
              <a:rPr lang="it-IT" sz="800" dirty="0" err="1">
                <a:latin typeface="Segoe UI" panose="020B0502040204020203" pitchFamily="34" charset="0"/>
                <a:cs typeface="Segoe UI" panose="020B0502040204020203" pitchFamily="34" charset="0"/>
              </a:rPr>
              <a:t>Listener</a:t>
            </a:r>
            <a:r>
              <a:rPr lang="it-IT" sz="800" dirty="0">
                <a:latin typeface="Segoe UI" panose="020B0502040204020203" pitchFamily="34" charset="0"/>
                <a:cs typeface="Segoe UI" panose="020B0502040204020203" pitchFamily="34" charset="0"/>
              </a:rPr>
              <a:t>, invoca il Model, invoca Service</a:t>
            </a:r>
          </a:p>
        </p:txBody>
      </p:sp>
      <p:sp>
        <p:nvSpPr>
          <p:cNvPr id="9" name="Rettangolo con angoli arrotondati 8">
            <a:extLst>
              <a:ext uri="{FF2B5EF4-FFF2-40B4-BE49-F238E27FC236}">
                <a16:creationId xmlns:a16="http://schemas.microsoft.com/office/drawing/2014/main" id="{3A072F90-48D3-6402-9361-7D5FCB5C76E3}"/>
              </a:ext>
            </a:extLst>
          </p:cNvPr>
          <p:cNvSpPr/>
          <p:nvPr/>
        </p:nvSpPr>
        <p:spPr>
          <a:xfrm>
            <a:off x="5540904" y="1585251"/>
            <a:ext cx="1464617" cy="56383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err="1">
                <a:latin typeface="Segoe UI" panose="020B0502040204020203" pitchFamily="34" charset="0"/>
                <a:cs typeface="Segoe UI" panose="020B0502040204020203" pitchFamily="34" charset="0"/>
              </a:rPr>
              <a:t>View</a:t>
            </a:r>
            <a:endParaRPr lang="it-IT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it-IT" sz="800" dirty="0">
                <a:latin typeface="Segoe UI" panose="020B0502040204020203" pitchFamily="34" charset="0"/>
                <a:cs typeface="Segoe UI" panose="020B0502040204020203" pitchFamily="34" charset="0"/>
              </a:rPr>
              <a:t>Componenti passive</a:t>
            </a:r>
            <a:br>
              <a:rPr lang="it-IT" sz="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it-IT" sz="800" dirty="0">
                <a:latin typeface="Segoe UI" panose="020B0502040204020203" pitchFamily="34" charset="0"/>
                <a:cs typeface="Segoe UI" panose="020B0502040204020203" pitchFamily="34" charset="0"/>
              </a:rPr>
              <a:t>Notifica tramite </a:t>
            </a:r>
            <a:r>
              <a:rPr lang="it-IT" sz="800" dirty="0" err="1">
                <a:latin typeface="Segoe UI" panose="020B0502040204020203" pitchFamily="34" charset="0"/>
                <a:cs typeface="Segoe UI" panose="020B0502040204020203" pitchFamily="34" charset="0"/>
              </a:rPr>
              <a:t>listener</a:t>
            </a:r>
            <a:endParaRPr lang="it-IT" sz="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12" name="Connettore 2 11">
            <a:extLst>
              <a:ext uri="{FF2B5EF4-FFF2-40B4-BE49-F238E27FC236}">
                <a16:creationId xmlns:a16="http://schemas.microsoft.com/office/drawing/2014/main" id="{0A07BBF4-F695-5BC9-E9EE-400C53846A7F}"/>
              </a:ext>
            </a:extLst>
          </p:cNvPr>
          <p:cNvCxnSpPr>
            <a:cxnSpLocks/>
          </p:cNvCxnSpPr>
          <p:nvPr/>
        </p:nvCxnSpPr>
        <p:spPr>
          <a:xfrm>
            <a:off x="8253363" y="2178944"/>
            <a:ext cx="0" cy="4459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Connettore 2 13">
            <a:extLst>
              <a:ext uri="{FF2B5EF4-FFF2-40B4-BE49-F238E27FC236}">
                <a16:creationId xmlns:a16="http://schemas.microsoft.com/office/drawing/2014/main" id="{52CE30D2-B41B-E97C-212D-AB344541D1C1}"/>
              </a:ext>
            </a:extLst>
          </p:cNvPr>
          <p:cNvCxnSpPr>
            <a:cxnSpLocks/>
            <a:stCxn id="8" idx="0"/>
            <a:endCxn id="2" idx="2"/>
          </p:cNvCxnSpPr>
          <p:nvPr/>
        </p:nvCxnSpPr>
        <p:spPr>
          <a:xfrm flipH="1" flipV="1">
            <a:off x="8272688" y="947225"/>
            <a:ext cx="1" cy="6678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Connettore 2 28">
            <a:extLst>
              <a:ext uri="{FF2B5EF4-FFF2-40B4-BE49-F238E27FC236}">
                <a16:creationId xmlns:a16="http://schemas.microsoft.com/office/drawing/2014/main" id="{C43E6035-FE6B-148B-461C-3E47CAA476F4}"/>
              </a:ext>
            </a:extLst>
          </p:cNvPr>
          <p:cNvCxnSpPr>
            <a:cxnSpLocks/>
          </p:cNvCxnSpPr>
          <p:nvPr/>
        </p:nvCxnSpPr>
        <p:spPr>
          <a:xfrm flipH="1" flipV="1">
            <a:off x="6994076" y="1970257"/>
            <a:ext cx="478887" cy="52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5" name="CasellaDiTesto 34">
            <a:extLst>
              <a:ext uri="{FF2B5EF4-FFF2-40B4-BE49-F238E27FC236}">
                <a16:creationId xmlns:a16="http://schemas.microsoft.com/office/drawing/2014/main" id="{6E302B24-0693-6477-1F91-4CCB6C166197}"/>
              </a:ext>
            </a:extLst>
          </p:cNvPr>
          <p:cNvSpPr txBox="1"/>
          <p:nvPr/>
        </p:nvSpPr>
        <p:spPr>
          <a:xfrm>
            <a:off x="2154837" y="305393"/>
            <a:ext cx="4578440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800" b="1">
                <a:solidFill>
                  <a:srgbClr val="00336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Pattern MVC (Model-</a:t>
            </a:r>
            <a:r>
              <a:rPr lang="it-IT" sz="1800" b="1" err="1">
                <a:solidFill>
                  <a:srgbClr val="00336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View</a:t>
            </a:r>
            <a:r>
              <a:rPr lang="it-IT" sz="1800" b="1">
                <a:solidFill>
                  <a:srgbClr val="00336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-Controller)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800" b="1">
                <a:solidFill>
                  <a:srgbClr val="00336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Pattern Observer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800" b="1">
                <a:solidFill>
                  <a:srgbClr val="00336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Gestione della concorrenza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>
              <a:solidFill>
                <a:srgbClr val="003366"/>
              </a:solidFill>
            </a:endParaRPr>
          </a:p>
        </p:txBody>
      </p:sp>
      <p:sp>
        <p:nvSpPr>
          <p:cNvPr id="36" name="CasellaDiTesto 35">
            <a:extLst>
              <a:ext uri="{FF2B5EF4-FFF2-40B4-BE49-F238E27FC236}">
                <a16:creationId xmlns:a16="http://schemas.microsoft.com/office/drawing/2014/main" id="{C2A3885C-555D-8B58-D306-F07181F0D39A}"/>
              </a:ext>
            </a:extLst>
          </p:cNvPr>
          <p:cNvSpPr txBox="1"/>
          <p:nvPr/>
        </p:nvSpPr>
        <p:spPr>
          <a:xfrm>
            <a:off x="2181558" y="1878504"/>
            <a:ext cx="297502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800" b="1">
                <a:solidFill>
                  <a:srgbClr val="00336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Tecnologie utilizzate: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800" b="1">
                <a:solidFill>
                  <a:srgbClr val="00336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Java Swing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800" b="1" err="1">
                <a:solidFill>
                  <a:srgbClr val="00336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FlatLaf</a:t>
            </a:r>
            <a:endParaRPr lang="it-IT" sz="1800" b="1">
              <a:solidFill>
                <a:srgbClr val="003366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800" b="1" err="1">
                <a:solidFill>
                  <a:srgbClr val="00336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SwingX</a:t>
            </a:r>
            <a:endParaRPr lang="it-IT" sz="1800" b="1">
              <a:solidFill>
                <a:srgbClr val="003366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800" b="1">
                <a:solidFill>
                  <a:srgbClr val="00336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Jackson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sz="1800" b="1">
              <a:solidFill>
                <a:srgbClr val="003366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sz="1800" b="1">
              <a:solidFill>
                <a:srgbClr val="003366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800" b="1">
                <a:solidFill>
                  <a:srgbClr val="00336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Principi Nielsen per l’usabilità</a:t>
            </a:r>
          </a:p>
        </p:txBody>
      </p:sp>
      <p:sp>
        <p:nvSpPr>
          <p:cNvPr id="48" name="Rettangolo con angoli arrotondati 47">
            <a:extLst>
              <a:ext uri="{FF2B5EF4-FFF2-40B4-BE49-F238E27FC236}">
                <a16:creationId xmlns:a16="http://schemas.microsoft.com/office/drawing/2014/main" id="{6AE6DE70-3275-CC6F-32D6-7591B9048EBB}"/>
              </a:ext>
            </a:extLst>
          </p:cNvPr>
          <p:cNvSpPr/>
          <p:nvPr/>
        </p:nvSpPr>
        <p:spPr>
          <a:xfrm>
            <a:off x="7612843" y="2615681"/>
            <a:ext cx="1319687" cy="63940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>
                <a:latin typeface="Segoe UI" panose="020B0502040204020203" pitchFamily="34" charset="0"/>
                <a:cs typeface="Segoe UI" panose="020B0502040204020203" pitchFamily="34" charset="0"/>
              </a:rPr>
              <a:t>Service</a:t>
            </a:r>
          </a:p>
          <a:p>
            <a:pPr algn="ctr"/>
            <a:r>
              <a:rPr lang="it-IT" sz="1000">
                <a:latin typeface="Segoe UI" panose="020B0502040204020203" pitchFamily="34" charset="0"/>
                <a:cs typeface="Segoe UI" panose="020B0502040204020203" pitchFamily="34" charset="0"/>
              </a:rPr>
              <a:t>Richieste e risposte HTTP</a:t>
            </a:r>
          </a:p>
        </p:txBody>
      </p:sp>
      <p:cxnSp>
        <p:nvCxnSpPr>
          <p:cNvPr id="3" name="Connettore 2 2">
            <a:extLst>
              <a:ext uri="{FF2B5EF4-FFF2-40B4-BE49-F238E27FC236}">
                <a16:creationId xmlns:a16="http://schemas.microsoft.com/office/drawing/2014/main" id="{26D0CA01-BA6D-6FA7-03FA-851F775E1854}"/>
              </a:ext>
            </a:extLst>
          </p:cNvPr>
          <p:cNvCxnSpPr>
            <a:cxnSpLocks/>
          </p:cNvCxnSpPr>
          <p:nvPr/>
        </p:nvCxnSpPr>
        <p:spPr>
          <a:xfrm>
            <a:off x="7005521" y="1755658"/>
            <a:ext cx="45599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A3D3DD81-822D-6FA0-A55F-3697B631AAEA}"/>
              </a:ext>
            </a:extLst>
          </p:cNvPr>
          <p:cNvSpPr txBox="1"/>
          <p:nvPr/>
        </p:nvSpPr>
        <p:spPr>
          <a:xfrm>
            <a:off x="6918740" y="1352638"/>
            <a:ext cx="78743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900">
                <a:solidFill>
                  <a:srgbClr val="00336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User Action</a:t>
            </a:r>
          </a:p>
        </p:txBody>
      </p:sp>
      <p:cxnSp>
        <p:nvCxnSpPr>
          <p:cNvPr id="11" name="Connettore 2 10">
            <a:extLst>
              <a:ext uri="{FF2B5EF4-FFF2-40B4-BE49-F238E27FC236}">
                <a16:creationId xmlns:a16="http://schemas.microsoft.com/office/drawing/2014/main" id="{0569CDFB-377B-86DA-CF57-EF093D75D12A}"/>
              </a:ext>
            </a:extLst>
          </p:cNvPr>
          <p:cNvCxnSpPr>
            <a:cxnSpLocks/>
            <a:stCxn id="2" idx="1"/>
            <a:endCxn id="9" idx="0"/>
          </p:cNvCxnSpPr>
          <p:nvPr/>
        </p:nvCxnSpPr>
        <p:spPr>
          <a:xfrm flipH="1">
            <a:off x="6273213" y="762559"/>
            <a:ext cx="1459296" cy="8226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52F7A097-04CC-7267-2914-1BFAEB717A93}"/>
              </a:ext>
            </a:extLst>
          </p:cNvPr>
          <p:cNvSpPr txBox="1"/>
          <p:nvPr/>
        </p:nvSpPr>
        <p:spPr>
          <a:xfrm rot="19792964">
            <a:off x="6744283" y="922503"/>
            <a:ext cx="63773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800">
                <a:solidFill>
                  <a:srgbClr val="00336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Updates</a:t>
            </a:r>
            <a:endParaRPr lang="it-IT" sz="600">
              <a:solidFill>
                <a:srgbClr val="003366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5" name="CasellaDiTesto 24">
            <a:extLst>
              <a:ext uri="{FF2B5EF4-FFF2-40B4-BE49-F238E27FC236}">
                <a16:creationId xmlns:a16="http://schemas.microsoft.com/office/drawing/2014/main" id="{73A024D3-0522-B988-19ED-E2C5DCF7E16A}"/>
              </a:ext>
            </a:extLst>
          </p:cNvPr>
          <p:cNvSpPr txBox="1"/>
          <p:nvPr/>
        </p:nvSpPr>
        <p:spPr>
          <a:xfrm>
            <a:off x="8253363" y="1150822"/>
            <a:ext cx="84982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900" err="1">
                <a:solidFill>
                  <a:srgbClr val="00336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Manipulates</a:t>
            </a:r>
            <a:endParaRPr lang="it-IT" sz="900">
              <a:solidFill>
                <a:srgbClr val="003366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6" name="CasellaDiTesto 25">
            <a:extLst>
              <a:ext uri="{FF2B5EF4-FFF2-40B4-BE49-F238E27FC236}">
                <a16:creationId xmlns:a16="http://schemas.microsoft.com/office/drawing/2014/main" id="{985D5FCF-CEAC-8418-9F84-E0740782211E}"/>
              </a:ext>
            </a:extLst>
          </p:cNvPr>
          <p:cNvSpPr txBox="1"/>
          <p:nvPr/>
        </p:nvSpPr>
        <p:spPr>
          <a:xfrm>
            <a:off x="6942531" y="2162710"/>
            <a:ext cx="65043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900" err="1">
                <a:solidFill>
                  <a:srgbClr val="00336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Renders</a:t>
            </a:r>
            <a:endParaRPr lang="it-IT" sz="900">
              <a:solidFill>
                <a:srgbClr val="003366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02D9EBFA-8CF2-BD1B-EDC3-1A68E40F20B8}"/>
              </a:ext>
            </a:extLst>
          </p:cNvPr>
          <p:cNvSpPr txBox="1"/>
          <p:nvPr/>
        </p:nvSpPr>
        <p:spPr>
          <a:xfrm>
            <a:off x="8342621" y="2296988"/>
            <a:ext cx="47024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900">
                <a:solidFill>
                  <a:srgbClr val="00336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Calls</a:t>
            </a:r>
          </a:p>
        </p:txBody>
      </p:sp>
      <p:pic>
        <p:nvPicPr>
          <p:cNvPr id="59" name="Immagine 58" descr="Immagine che contiene testo, schermata, Carattere&#10;&#10;Il contenuto generato dall'IA potrebbe non essere corretto.">
            <a:extLst>
              <a:ext uri="{FF2B5EF4-FFF2-40B4-BE49-F238E27FC236}">
                <a16:creationId xmlns:a16="http://schemas.microsoft.com/office/drawing/2014/main" id="{2FE9CDB5-952C-6391-8F19-212CA159F5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1806" y="2580795"/>
            <a:ext cx="2491157" cy="2475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7554260"/>
      </p:ext>
    </p:extLst>
  </p:cSld>
  <p:clrMapOvr>
    <a:masterClrMapping/>
  </p:clrMapOvr>
  <p:transition spd="slow">
    <p:cov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Shape 65">
          <a:extLst>
            <a:ext uri="{FF2B5EF4-FFF2-40B4-BE49-F238E27FC236}">
              <a16:creationId xmlns:a16="http://schemas.microsoft.com/office/drawing/2014/main" id="{85AA09F7-E306-0D79-BDA2-E653F97826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Connettore diritto 25">
            <a:extLst>
              <a:ext uri="{FF2B5EF4-FFF2-40B4-BE49-F238E27FC236}">
                <a16:creationId xmlns:a16="http://schemas.microsoft.com/office/drawing/2014/main" id="{4A517552-B32C-C655-867E-24CCCA233F55}"/>
              </a:ext>
            </a:extLst>
          </p:cNvPr>
          <p:cNvCxnSpPr>
            <a:cxnSpLocks/>
          </p:cNvCxnSpPr>
          <p:nvPr/>
        </p:nvCxnSpPr>
        <p:spPr>
          <a:xfrm>
            <a:off x="7075602" y="4175373"/>
            <a:ext cx="1967209" cy="0"/>
          </a:xfrm>
          <a:prstGeom prst="line">
            <a:avLst/>
          </a:prstGeom>
          <a:ln w="1905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5" name="Connettore diritto 24">
            <a:extLst>
              <a:ext uri="{FF2B5EF4-FFF2-40B4-BE49-F238E27FC236}">
                <a16:creationId xmlns:a16="http://schemas.microsoft.com/office/drawing/2014/main" id="{E9B73B21-80A6-AF1D-80DF-CEC915C84E5A}"/>
              </a:ext>
            </a:extLst>
          </p:cNvPr>
          <p:cNvCxnSpPr>
            <a:cxnSpLocks/>
          </p:cNvCxnSpPr>
          <p:nvPr/>
        </p:nvCxnSpPr>
        <p:spPr>
          <a:xfrm>
            <a:off x="7075602" y="3259959"/>
            <a:ext cx="1967209" cy="0"/>
          </a:xfrm>
          <a:prstGeom prst="line">
            <a:avLst/>
          </a:prstGeom>
          <a:ln w="1905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3" name="Connettore diritto 22">
            <a:extLst>
              <a:ext uri="{FF2B5EF4-FFF2-40B4-BE49-F238E27FC236}">
                <a16:creationId xmlns:a16="http://schemas.microsoft.com/office/drawing/2014/main" id="{0915BE61-8367-C830-6518-DA093B709597}"/>
              </a:ext>
            </a:extLst>
          </p:cNvPr>
          <p:cNvCxnSpPr>
            <a:cxnSpLocks/>
          </p:cNvCxnSpPr>
          <p:nvPr/>
        </p:nvCxnSpPr>
        <p:spPr>
          <a:xfrm>
            <a:off x="7075602" y="2336415"/>
            <a:ext cx="1967209" cy="0"/>
          </a:xfrm>
          <a:prstGeom prst="line">
            <a:avLst/>
          </a:prstGeom>
          <a:ln w="1905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9" name="Google Shape;69;p14">
            <a:extLst>
              <a:ext uri="{FF2B5EF4-FFF2-40B4-BE49-F238E27FC236}">
                <a16:creationId xmlns:a16="http://schemas.microsoft.com/office/drawing/2014/main" id="{1C1B55FA-CF0A-F52B-4CE0-464A2C1F730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9075" y="146024"/>
            <a:ext cx="1807200" cy="125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sp>
        <p:nvSpPr>
          <p:cNvPr id="70" name="Google Shape;70;p14">
            <a:extLst>
              <a:ext uri="{FF2B5EF4-FFF2-40B4-BE49-F238E27FC236}">
                <a16:creationId xmlns:a16="http://schemas.microsoft.com/office/drawing/2014/main" id="{18C91506-E7A3-E661-E295-DF44E9C8DDD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075" y="1611510"/>
            <a:ext cx="1882800" cy="85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700">
                <a:latin typeface="Segoe UI" panose="020B0502040204020203" pitchFamily="34" charset="0"/>
                <a:cs typeface="Segoe UI" panose="020B0502040204020203" pitchFamily="34" charset="0"/>
              </a:rPr>
              <a:t>Design del backend</a:t>
            </a:r>
            <a:endParaRPr sz="17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671B8DE8-7473-6672-0FED-566F7A35ED30}"/>
              </a:ext>
            </a:extLst>
          </p:cNvPr>
          <p:cNvSpPr txBox="1"/>
          <p:nvPr/>
        </p:nvSpPr>
        <p:spPr>
          <a:xfrm>
            <a:off x="2151501" y="455160"/>
            <a:ext cx="4885125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000" b="1" i="1" dirty="0">
                <a:solidFill>
                  <a:srgbClr val="00336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Architettura N-</a:t>
            </a:r>
            <a:r>
              <a:rPr lang="it-IT" sz="2000" b="1" i="1" dirty="0" err="1">
                <a:solidFill>
                  <a:srgbClr val="00336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Tier</a:t>
            </a:r>
            <a:r>
              <a:rPr lang="it-IT" sz="2000" b="1" i="1" dirty="0">
                <a:solidFill>
                  <a:srgbClr val="00336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it-IT" sz="2000" b="1" i="1" dirty="0" err="1">
                <a:solidFill>
                  <a:srgbClr val="00336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Layered</a:t>
            </a:r>
            <a:r>
              <a:rPr lang="it-IT" sz="2000" b="1" i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it-IT" sz="2000" b="1" i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000" b="1" i="1" dirty="0">
                <a:solidFill>
                  <a:srgbClr val="00336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Spring Boot 3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it-IT" sz="2000" b="1" i="1" dirty="0">
              <a:solidFill>
                <a:srgbClr val="003366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000" b="1" i="1" dirty="0">
                <a:solidFill>
                  <a:srgbClr val="00336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Spring Data JPA &amp; Spring Security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it-IT" sz="2000" b="1" i="1" dirty="0">
              <a:solidFill>
                <a:srgbClr val="003366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000" b="1" i="1" dirty="0">
                <a:solidFill>
                  <a:srgbClr val="00336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Lombok (</a:t>
            </a:r>
            <a:r>
              <a:rPr lang="it-IT" sz="2000" b="1" i="1" dirty="0" err="1">
                <a:solidFill>
                  <a:srgbClr val="00336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Boilerplating</a:t>
            </a:r>
            <a:r>
              <a:rPr lang="it-IT" sz="2000" b="1" i="1" dirty="0">
                <a:solidFill>
                  <a:srgbClr val="00336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it-IT" sz="2000" b="1" i="1" dirty="0">
              <a:solidFill>
                <a:srgbClr val="003366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000" b="1" i="1" dirty="0">
                <a:solidFill>
                  <a:srgbClr val="00336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Pattern: </a:t>
            </a:r>
          </a:p>
          <a:p>
            <a:r>
              <a:rPr lang="it-IT" sz="2000" b="1" i="1" dirty="0">
                <a:solidFill>
                  <a:srgbClr val="00336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	      Repository</a:t>
            </a:r>
          </a:p>
          <a:p>
            <a:r>
              <a:rPr lang="it-IT" sz="2000" b="1" i="1" dirty="0">
                <a:solidFill>
                  <a:srgbClr val="00336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	      DTO/Mapper</a:t>
            </a:r>
          </a:p>
          <a:p>
            <a:r>
              <a:rPr lang="it-IT" sz="2000" b="1" i="1" dirty="0">
                <a:solidFill>
                  <a:srgbClr val="00336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	      Builder (Su </a:t>
            </a:r>
            <a:r>
              <a:rPr lang="it-IT" sz="2000" b="1" i="1" dirty="0" err="1">
                <a:solidFill>
                  <a:srgbClr val="00336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Entity</a:t>
            </a:r>
            <a:r>
              <a:rPr lang="it-IT" sz="2000" b="1" i="1" dirty="0">
                <a:solidFill>
                  <a:srgbClr val="00336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/DTO)</a:t>
            </a:r>
          </a:p>
          <a:p>
            <a:r>
              <a:rPr lang="it-IT" sz="2000" b="1" i="1" dirty="0">
                <a:solidFill>
                  <a:srgbClr val="00336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	      </a:t>
            </a:r>
            <a:r>
              <a:rPr lang="it-IT" sz="2000" b="1" i="1" dirty="0" err="1">
                <a:solidFill>
                  <a:srgbClr val="00336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Facade</a:t>
            </a:r>
            <a:r>
              <a:rPr lang="it-IT" sz="2000" b="1" i="1" dirty="0">
                <a:solidFill>
                  <a:srgbClr val="00336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(Controllers)</a:t>
            </a:r>
          </a:p>
          <a:p>
            <a:r>
              <a:rPr lang="it-IT" sz="2000" b="1" i="1" dirty="0">
                <a:solidFill>
                  <a:srgbClr val="00336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	      Chain Of </a:t>
            </a:r>
            <a:r>
              <a:rPr lang="it-IT" sz="2000" b="1" i="1" dirty="0" err="1">
                <a:solidFill>
                  <a:srgbClr val="00336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Responsibility</a:t>
            </a:r>
            <a:endParaRPr lang="it-IT" sz="2000" b="1" i="1" dirty="0">
              <a:solidFill>
                <a:srgbClr val="003366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Rettangolo con angoli arrotondati 7">
            <a:extLst>
              <a:ext uri="{FF2B5EF4-FFF2-40B4-BE49-F238E27FC236}">
                <a16:creationId xmlns:a16="http://schemas.microsoft.com/office/drawing/2014/main" id="{10D5DB09-D861-9302-1E84-E95F113F2ABF}"/>
              </a:ext>
            </a:extLst>
          </p:cNvPr>
          <p:cNvSpPr/>
          <p:nvPr/>
        </p:nvSpPr>
        <p:spPr>
          <a:xfrm>
            <a:off x="7196252" y="1573440"/>
            <a:ext cx="1667814" cy="60647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>
                <a:latin typeface="Segoe UI" panose="020B0502040204020203" pitchFamily="34" charset="0"/>
                <a:cs typeface="Segoe UI" panose="020B0502040204020203" pitchFamily="34" charset="0"/>
              </a:rPr>
              <a:t>IssueController</a:t>
            </a:r>
          </a:p>
        </p:txBody>
      </p:sp>
      <p:sp>
        <p:nvSpPr>
          <p:cNvPr id="9" name="Rettangolo con angoli arrotondati 8">
            <a:extLst>
              <a:ext uri="{FF2B5EF4-FFF2-40B4-BE49-F238E27FC236}">
                <a16:creationId xmlns:a16="http://schemas.microsoft.com/office/drawing/2014/main" id="{BEDD5283-7F2F-2E07-8ACF-C5635F3137F4}"/>
              </a:ext>
            </a:extLst>
          </p:cNvPr>
          <p:cNvSpPr/>
          <p:nvPr/>
        </p:nvSpPr>
        <p:spPr>
          <a:xfrm>
            <a:off x="7196252" y="2492919"/>
            <a:ext cx="1667814" cy="60647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>
                <a:latin typeface="Segoe UI" panose="020B0502040204020203" pitchFamily="34" charset="0"/>
                <a:cs typeface="Segoe UI" panose="020B0502040204020203" pitchFamily="34" charset="0"/>
              </a:rPr>
              <a:t>IssueService</a:t>
            </a:r>
          </a:p>
        </p:txBody>
      </p:sp>
      <p:sp>
        <p:nvSpPr>
          <p:cNvPr id="10" name="Rettangolo con angoli arrotondati 9">
            <a:extLst>
              <a:ext uri="{FF2B5EF4-FFF2-40B4-BE49-F238E27FC236}">
                <a16:creationId xmlns:a16="http://schemas.microsoft.com/office/drawing/2014/main" id="{FAD3C3A9-D22F-4E2F-E1C6-5D4FD0719F5C}"/>
              </a:ext>
            </a:extLst>
          </p:cNvPr>
          <p:cNvSpPr/>
          <p:nvPr/>
        </p:nvSpPr>
        <p:spPr>
          <a:xfrm>
            <a:off x="7196252" y="3412398"/>
            <a:ext cx="1667814" cy="60647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>
                <a:latin typeface="Segoe UI" panose="020B0502040204020203" pitchFamily="34" charset="0"/>
                <a:cs typeface="Segoe UI" panose="020B0502040204020203" pitchFamily="34" charset="0"/>
              </a:rPr>
              <a:t>IssueRepository</a:t>
            </a:r>
          </a:p>
        </p:txBody>
      </p:sp>
      <p:sp>
        <p:nvSpPr>
          <p:cNvPr id="11" name="Rettangolo con angoli arrotondati 10">
            <a:extLst>
              <a:ext uri="{FF2B5EF4-FFF2-40B4-BE49-F238E27FC236}">
                <a16:creationId xmlns:a16="http://schemas.microsoft.com/office/drawing/2014/main" id="{A006EADA-B609-D9BD-F550-F0C58A72EB0C}"/>
              </a:ext>
            </a:extLst>
          </p:cNvPr>
          <p:cNvSpPr/>
          <p:nvPr/>
        </p:nvSpPr>
        <p:spPr>
          <a:xfrm>
            <a:off x="7196252" y="4320813"/>
            <a:ext cx="1667814" cy="60647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>
                <a:latin typeface="Segoe UI" panose="020B0502040204020203" pitchFamily="34" charset="0"/>
                <a:cs typeface="Segoe UI" panose="020B0502040204020203" pitchFamily="34" charset="0"/>
              </a:rPr>
              <a:t>IssueModel</a:t>
            </a:r>
          </a:p>
        </p:txBody>
      </p:sp>
      <p:cxnSp>
        <p:nvCxnSpPr>
          <p:cNvPr id="13" name="Connettore 2 12">
            <a:extLst>
              <a:ext uri="{FF2B5EF4-FFF2-40B4-BE49-F238E27FC236}">
                <a16:creationId xmlns:a16="http://schemas.microsoft.com/office/drawing/2014/main" id="{F3F5CA2B-AAC4-1C80-DB53-6CC81B45DBD6}"/>
              </a:ext>
            </a:extLst>
          </p:cNvPr>
          <p:cNvCxnSpPr>
            <a:stCxn id="8" idx="2"/>
            <a:endCxn id="9" idx="0"/>
          </p:cNvCxnSpPr>
          <p:nvPr/>
        </p:nvCxnSpPr>
        <p:spPr>
          <a:xfrm>
            <a:off x="8030159" y="2179911"/>
            <a:ext cx="0" cy="3130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Connettore 2 13">
            <a:extLst>
              <a:ext uri="{FF2B5EF4-FFF2-40B4-BE49-F238E27FC236}">
                <a16:creationId xmlns:a16="http://schemas.microsoft.com/office/drawing/2014/main" id="{F01302F8-57F6-648A-6E73-52BD6D878950}"/>
              </a:ext>
            </a:extLst>
          </p:cNvPr>
          <p:cNvCxnSpPr/>
          <p:nvPr/>
        </p:nvCxnSpPr>
        <p:spPr>
          <a:xfrm>
            <a:off x="8030159" y="3099390"/>
            <a:ext cx="0" cy="3130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Connettore 2 14">
            <a:extLst>
              <a:ext uri="{FF2B5EF4-FFF2-40B4-BE49-F238E27FC236}">
                <a16:creationId xmlns:a16="http://schemas.microsoft.com/office/drawing/2014/main" id="{46AEFE45-8A5C-295B-58F9-60A625AC8C88}"/>
              </a:ext>
            </a:extLst>
          </p:cNvPr>
          <p:cNvCxnSpPr/>
          <p:nvPr/>
        </p:nvCxnSpPr>
        <p:spPr>
          <a:xfrm>
            <a:off x="8030159" y="4018869"/>
            <a:ext cx="0" cy="3130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Connettore curvo 36">
            <a:extLst>
              <a:ext uri="{FF2B5EF4-FFF2-40B4-BE49-F238E27FC236}">
                <a16:creationId xmlns:a16="http://schemas.microsoft.com/office/drawing/2014/main" id="{4B412427-20C8-11DE-1248-AD9743A9D79F}"/>
              </a:ext>
            </a:extLst>
          </p:cNvPr>
          <p:cNvCxnSpPr>
            <a:endCxn id="8" idx="0"/>
          </p:cNvCxnSpPr>
          <p:nvPr/>
        </p:nvCxnSpPr>
        <p:spPr>
          <a:xfrm>
            <a:off x="6050280" y="678180"/>
            <a:ext cx="1979879" cy="895260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8458536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10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10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10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10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10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1000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1000" fill="hold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allAtOnce"/>
      <p:bldP spid="8" grpId="0" animBg="1"/>
      <p:bldP spid="9" grpId="0" animBg="1"/>
      <p:bldP spid="10" grpId="0" animBg="1"/>
      <p:bldP spid="1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8245CCB-720C-E109-68C9-420FC9CEE1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Sicurezza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99A3EE6A-B808-4FCB-A1E5-42A5E07FC0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mtClean="0"/>
              <a:t>5</a:t>
            </a:fld>
            <a:endParaRPr lang="it-IT"/>
          </a:p>
        </p:txBody>
      </p:sp>
      <p:sp>
        <p:nvSpPr>
          <p:cNvPr id="5" name="Rettangolo con angoli arrotondati 4">
            <a:extLst>
              <a:ext uri="{FF2B5EF4-FFF2-40B4-BE49-F238E27FC236}">
                <a16:creationId xmlns:a16="http://schemas.microsoft.com/office/drawing/2014/main" id="{BEAB8BA1-1B84-087C-CDE7-F13D865BFCBA}"/>
              </a:ext>
            </a:extLst>
          </p:cNvPr>
          <p:cNvSpPr/>
          <p:nvPr/>
        </p:nvSpPr>
        <p:spPr>
          <a:xfrm>
            <a:off x="2266112" y="256714"/>
            <a:ext cx="1140028" cy="60647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>
                <a:latin typeface="Segoe UI" panose="020B0502040204020203" pitchFamily="34" charset="0"/>
                <a:cs typeface="Segoe UI" panose="020B0502040204020203" pitchFamily="34" charset="0"/>
              </a:rPr>
              <a:t>HTTP</a:t>
            </a:r>
            <a:br>
              <a:rPr lang="it-IT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it-IT">
                <a:latin typeface="Segoe UI" panose="020B0502040204020203" pitchFamily="34" charset="0"/>
                <a:cs typeface="Segoe UI" panose="020B0502040204020203" pitchFamily="34" charset="0"/>
              </a:rPr>
              <a:t>Request</a:t>
            </a:r>
          </a:p>
        </p:txBody>
      </p:sp>
      <p:sp>
        <p:nvSpPr>
          <p:cNvPr id="9" name="Rettangolo con angoli arrotondati 8">
            <a:extLst>
              <a:ext uri="{FF2B5EF4-FFF2-40B4-BE49-F238E27FC236}">
                <a16:creationId xmlns:a16="http://schemas.microsoft.com/office/drawing/2014/main" id="{4C7904E9-C48D-A896-F7DB-4DB8824C3A07}"/>
              </a:ext>
            </a:extLst>
          </p:cNvPr>
          <p:cNvSpPr/>
          <p:nvPr/>
        </p:nvSpPr>
        <p:spPr>
          <a:xfrm>
            <a:off x="4185686" y="254348"/>
            <a:ext cx="1140028" cy="60647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>
                <a:latin typeface="Segoe UI" panose="020B0502040204020203" pitchFamily="34" charset="0"/>
                <a:cs typeface="Segoe UI" panose="020B0502040204020203" pitchFamily="34" charset="0"/>
              </a:rPr>
              <a:t>JWT Auth Filter</a:t>
            </a:r>
          </a:p>
        </p:txBody>
      </p:sp>
      <p:sp>
        <p:nvSpPr>
          <p:cNvPr id="10" name="Rettangolo con angoli arrotondati 9">
            <a:extLst>
              <a:ext uri="{FF2B5EF4-FFF2-40B4-BE49-F238E27FC236}">
                <a16:creationId xmlns:a16="http://schemas.microsoft.com/office/drawing/2014/main" id="{F0ABAE36-9B9B-65D2-C750-09C5C6334978}"/>
              </a:ext>
            </a:extLst>
          </p:cNvPr>
          <p:cNvSpPr/>
          <p:nvPr/>
        </p:nvSpPr>
        <p:spPr>
          <a:xfrm>
            <a:off x="6105261" y="254348"/>
            <a:ext cx="1718838" cy="60647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>
                <a:latin typeface="Segoe UI" panose="020B0502040204020203" pitchFamily="34" charset="0"/>
                <a:cs typeface="Segoe UI" panose="020B0502040204020203" pitchFamily="34" charset="0"/>
              </a:rPr>
              <a:t>UserPassAuthFilter</a:t>
            </a:r>
          </a:p>
        </p:txBody>
      </p:sp>
      <p:cxnSp>
        <p:nvCxnSpPr>
          <p:cNvPr id="12" name="Connettore 2 11">
            <a:extLst>
              <a:ext uri="{FF2B5EF4-FFF2-40B4-BE49-F238E27FC236}">
                <a16:creationId xmlns:a16="http://schemas.microsoft.com/office/drawing/2014/main" id="{B4F3B73E-76B8-B4E2-C4F8-00F05BE6A737}"/>
              </a:ext>
            </a:extLst>
          </p:cNvPr>
          <p:cNvCxnSpPr>
            <a:stCxn id="5" idx="3"/>
            <a:endCxn id="9" idx="1"/>
          </p:cNvCxnSpPr>
          <p:nvPr/>
        </p:nvCxnSpPr>
        <p:spPr>
          <a:xfrm flipV="1">
            <a:off x="3406140" y="557584"/>
            <a:ext cx="779546" cy="236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Connettore 2 13">
            <a:extLst>
              <a:ext uri="{FF2B5EF4-FFF2-40B4-BE49-F238E27FC236}">
                <a16:creationId xmlns:a16="http://schemas.microsoft.com/office/drawing/2014/main" id="{7AEE7793-875A-97D3-5DD1-3E24DE7A83E6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>
            <a:off x="5325714" y="557584"/>
            <a:ext cx="779547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8" name="Rettangolo con angoli arrotondati 17">
            <a:extLst>
              <a:ext uri="{FF2B5EF4-FFF2-40B4-BE49-F238E27FC236}">
                <a16:creationId xmlns:a16="http://schemas.microsoft.com/office/drawing/2014/main" id="{087D5305-B281-7B0D-0539-1B8FF95F7E3D}"/>
              </a:ext>
            </a:extLst>
          </p:cNvPr>
          <p:cNvSpPr/>
          <p:nvPr/>
        </p:nvSpPr>
        <p:spPr>
          <a:xfrm>
            <a:off x="6105261" y="1448978"/>
            <a:ext cx="1718838" cy="60647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>
                <a:latin typeface="Segoe UI" panose="020B0502040204020203" pitchFamily="34" charset="0"/>
                <a:cs typeface="Segoe UI" panose="020B0502040204020203" pitchFamily="34" charset="0"/>
              </a:rPr>
              <a:t>AuthorizationFilter</a:t>
            </a:r>
          </a:p>
        </p:txBody>
      </p:sp>
      <p:cxnSp>
        <p:nvCxnSpPr>
          <p:cNvPr id="20" name="Connettore curvo 19">
            <a:extLst>
              <a:ext uri="{FF2B5EF4-FFF2-40B4-BE49-F238E27FC236}">
                <a16:creationId xmlns:a16="http://schemas.microsoft.com/office/drawing/2014/main" id="{07A854F5-465D-309D-82E5-A6C20230B472}"/>
              </a:ext>
            </a:extLst>
          </p:cNvPr>
          <p:cNvCxnSpPr>
            <a:stCxn id="10" idx="3"/>
            <a:endCxn id="18" idx="3"/>
          </p:cNvCxnSpPr>
          <p:nvPr/>
        </p:nvCxnSpPr>
        <p:spPr>
          <a:xfrm>
            <a:off x="7824099" y="557584"/>
            <a:ext cx="12700" cy="1194630"/>
          </a:xfrm>
          <a:prstGeom prst="curvedConnector3">
            <a:avLst>
              <a:gd name="adj1" fmla="val 6120000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3" name="Rettangolo con angoli arrotondati 32">
            <a:extLst>
              <a:ext uri="{FF2B5EF4-FFF2-40B4-BE49-F238E27FC236}">
                <a16:creationId xmlns:a16="http://schemas.microsoft.com/office/drawing/2014/main" id="{E883C8AD-0124-C8B4-DA00-16C842BB9FC5}"/>
              </a:ext>
            </a:extLst>
          </p:cNvPr>
          <p:cNvSpPr/>
          <p:nvPr/>
        </p:nvSpPr>
        <p:spPr>
          <a:xfrm>
            <a:off x="4185686" y="1448979"/>
            <a:ext cx="1140028" cy="60647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>
                <a:latin typeface="Segoe UI" panose="020B0502040204020203" pitchFamily="34" charset="0"/>
                <a:cs typeface="Segoe UI" panose="020B0502040204020203" pitchFamily="34" charset="0"/>
              </a:rPr>
              <a:t>Controllers</a:t>
            </a:r>
          </a:p>
        </p:txBody>
      </p:sp>
      <p:cxnSp>
        <p:nvCxnSpPr>
          <p:cNvPr id="35" name="Connettore 2 34">
            <a:extLst>
              <a:ext uri="{FF2B5EF4-FFF2-40B4-BE49-F238E27FC236}">
                <a16:creationId xmlns:a16="http://schemas.microsoft.com/office/drawing/2014/main" id="{53B3BB93-CBDE-67D5-0D73-928ACFB830B4}"/>
              </a:ext>
            </a:extLst>
          </p:cNvPr>
          <p:cNvCxnSpPr>
            <a:stCxn id="18" idx="1"/>
            <a:endCxn id="33" idx="3"/>
          </p:cNvCxnSpPr>
          <p:nvPr/>
        </p:nvCxnSpPr>
        <p:spPr>
          <a:xfrm flipH="1">
            <a:off x="5325714" y="1752214"/>
            <a:ext cx="779547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8" name="CasellaDiTesto 37">
            <a:extLst>
              <a:ext uri="{FF2B5EF4-FFF2-40B4-BE49-F238E27FC236}">
                <a16:creationId xmlns:a16="http://schemas.microsoft.com/office/drawing/2014/main" id="{240C2918-3C03-D589-F59E-24F8C5D8EB2E}"/>
              </a:ext>
            </a:extLst>
          </p:cNvPr>
          <p:cNvSpPr txBox="1"/>
          <p:nvPr/>
        </p:nvSpPr>
        <p:spPr>
          <a:xfrm>
            <a:off x="5325714" y="651259"/>
            <a:ext cx="8686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i="1">
                <a:solidFill>
                  <a:srgbClr val="00336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Token Valido</a:t>
            </a:r>
          </a:p>
        </p:txBody>
      </p:sp>
      <p:sp>
        <p:nvSpPr>
          <p:cNvPr id="43" name="CasellaDiTesto 42">
            <a:extLst>
              <a:ext uri="{FF2B5EF4-FFF2-40B4-BE49-F238E27FC236}">
                <a16:creationId xmlns:a16="http://schemas.microsoft.com/office/drawing/2014/main" id="{094EA319-04FF-7C26-2101-E69373792E21}"/>
              </a:ext>
            </a:extLst>
          </p:cNvPr>
          <p:cNvSpPr txBox="1"/>
          <p:nvPr/>
        </p:nvSpPr>
        <p:spPr>
          <a:xfrm>
            <a:off x="7755828" y="875604"/>
            <a:ext cx="8686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i="1">
                <a:solidFill>
                  <a:srgbClr val="00336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Utente</a:t>
            </a:r>
            <a:br>
              <a:rPr lang="it-IT" b="1" i="1">
                <a:solidFill>
                  <a:srgbClr val="00336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it-IT" b="1" i="1">
                <a:solidFill>
                  <a:srgbClr val="00336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Valido</a:t>
            </a:r>
          </a:p>
        </p:txBody>
      </p:sp>
      <p:sp>
        <p:nvSpPr>
          <p:cNvPr id="44" name="CasellaDiTesto 43">
            <a:extLst>
              <a:ext uri="{FF2B5EF4-FFF2-40B4-BE49-F238E27FC236}">
                <a16:creationId xmlns:a16="http://schemas.microsoft.com/office/drawing/2014/main" id="{B48B9970-2A08-17FE-92D4-EA8E3A92C468}"/>
              </a:ext>
            </a:extLst>
          </p:cNvPr>
          <p:cNvSpPr txBox="1"/>
          <p:nvPr/>
        </p:nvSpPr>
        <p:spPr>
          <a:xfrm>
            <a:off x="5272039" y="1928452"/>
            <a:ext cx="114002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i="1">
                <a:solidFill>
                  <a:srgbClr val="00336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Permessi Accesso Utente URL</a:t>
            </a:r>
          </a:p>
        </p:txBody>
      </p:sp>
      <p:cxnSp>
        <p:nvCxnSpPr>
          <p:cNvPr id="46" name="Connettore diritto 45">
            <a:extLst>
              <a:ext uri="{FF2B5EF4-FFF2-40B4-BE49-F238E27FC236}">
                <a16:creationId xmlns:a16="http://schemas.microsoft.com/office/drawing/2014/main" id="{E763AC5A-C165-69FB-A92A-7D1CE214186E}"/>
              </a:ext>
            </a:extLst>
          </p:cNvPr>
          <p:cNvCxnSpPr>
            <a:cxnSpLocks/>
          </p:cNvCxnSpPr>
          <p:nvPr/>
        </p:nvCxnSpPr>
        <p:spPr>
          <a:xfrm>
            <a:off x="2103120" y="2643608"/>
            <a:ext cx="7040880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8" name="CasellaDiTesto 47">
            <a:extLst>
              <a:ext uri="{FF2B5EF4-FFF2-40B4-BE49-F238E27FC236}">
                <a16:creationId xmlns:a16="http://schemas.microsoft.com/office/drawing/2014/main" id="{948E7A6C-3028-3835-8166-8F1C8AB5ABEC}"/>
              </a:ext>
            </a:extLst>
          </p:cNvPr>
          <p:cNvSpPr txBox="1"/>
          <p:nvPr/>
        </p:nvSpPr>
        <p:spPr>
          <a:xfrm>
            <a:off x="2230653" y="1846359"/>
            <a:ext cx="8686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>
                <a:solidFill>
                  <a:srgbClr val="00336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JWT Security</a:t>
            </a:r>
          </a:p>
        </p:txBody>
      </p:sp>
      <p:sp>
        <p:nvSpPr>
          <p:cNvPr id="49" name="CasellaDiTesto 48">
            <a:extLst>
              <a:ext uri="{FF2B5EF4-FFF2-40B4-BE49-F238E27FC236}">
                <a16:creationId xmlns:a16="http://schemas.microsoft.com/office/drawing/2014/main" id="{B37FD929-3814-E4D6-21AF-C340F343C5B2}"/>
              </a:ext>
            </a:extLst>
          </p:cNvPr>
          <p:cNvSpPr txBox="1"/>
          <p:nvPr/>
        </p:nvSpPr>
        <p:spPr>
          <a:xfrm>
            <a:off x="2230652" y="2737753"/>
            <a:ext cx="10078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>
                <a:solidFill>
                  <a:srgbClr val="00336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Password Security</a:t>
            </a:r>
          </a:p>
        </p:txBody>
      </p:sp>
      <p:sp>
        <p:nvSpPr>
          <p:cNvPr id="50" name="Rettangolo con angoli arrotondati 49">
            <a:extLst>
              <a:ext uri="{FF2B5EF4-FFF2-40B4-BE49-F238E27FC236}">
                <a16:creationId xmlns:a16="http://schemas.microsoft.com/office/drawing/2014/main" id="{5878F804-9495-1642-96FD-B50342E42461}"/>
              </a:ext>
            </a:extLst>
          </p:cNvPr>
          <p:cNvSpPr/>
          <p:nvPr/>
        </p:nvSpPr>
        <p:spPr>
          <a:xfrm>
            <a:off x="3027957" y="4082749"/>
            <a:ext cx="1414142" cy="60647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b="1">
                <a:latin typeface="Segoe UI" panose="020B0502040204020203" pitchFamily="34" charset="0"/>
                <a:cs typeface="Segoe UI" panose="020B0502040204020203" pitchFamily="34" charset="0"/>
              </a:rPr>
              <a:t>«gattino123»</a:t>
            </a:r>
          </a:p>
        </p:txBody>
      </p:sp>
      <p:cxnSp>
        <p:nvCxnSpPr>
          <p:cNvPr id="52" name="Connettore 2 51">
            <a:extLst>
              <a:ext uri="{FF2B5EF4-FFF2-40B4-BE49-F238E27FC236}">
                <a16:creationId xmlns:a16="http://schemas.microsoft.com/office/drawing/2014/main" id="{0C9DE9E2-8E85-C9BB-E4FC-FE69C907014F}"/>
              </a:ext>
            </a:extLst>
          </p:cNvPr>
          <p:cNvCxnSpPr>
            <a:cxnSpLocks/>
            <a:stCxn id="50" idx="3"/>
            <a:endCxn id="53" idx="1"/>
          </p:cNvCxnSpPr>
          <p:nvPr/>
        </p:nvCxnSpPr>
        <p:spPr>
          <a:xfrm flipV="1">
            <a:off x="4442099" y="4385984"/>
            <a:ext cx="655490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3" name="Rettangolo con angoli arrotondati 52">
            <a:extLst>
              <a:ext uri="{FF2B5EF4-FFF2-40B4-BE49-F238E27FC236}">
                <a16:creationId xmlns:a16="http://schemas.microsoft.com/office/drawing/2014/main" id="{AA006E4E-0269-C7CE-EE6D-673C822F7837}"/>
              </a:ext>
            </a:extLst>
          </p:cNvPr>
          <p:cNvSpPr/>
          <p:nvPr/>
        </p:nvSpPr>
        <p:spPr>
          <a:xfrm>
            <a:off x="5097589" y="4082748"/>
            <a:ext cx="1140028" cy="60647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b="1">
                <a:latin typeface="Segoe UI" panose="020B0502040204020203" pitchFamily="34" charset="0"/>
                <a:cs typeface="Segoe UI" panose="020B0502040204020203" pitchFamily="34" charset="0"/>
              </a:rPr>
              <a:t>⚙️ BCrypt</a:t>
            </a:r>
          </a:p>
        </p:txBody>
      </p:sp>
      <p:sp>
        <p:nvSpPr>
          <p:cNvPr id="57" name="Rettangolo con angoli arrotondati 56">
            <a:extLst>
              <a:ext uri="{FF2B5EF4-FFF2-40B4-BE49-F238E27FC236}">
                <a16:creationId xmlns:a16="http://schemas.microsoft.com/office/drawing/2014/main" id="{5B28B9E3-D359-6C72-B809-44282B351071}"/>
              </a:ext>
            </a:extLst>
          </p:cNvPr>
          <p:cNvSpPr/>
          <p:nvPr/>
        </p:nvSpPr>
        <p:spPr>
          <a:xfrm>
            <a:off x="6893107" y="4082750"/>
            <a:ext cx="1377788" cy="60647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b="1">
                <a:latin typeface="Segoe UI" panose="020B0502040204020203" pitchFamily="34" charset="0"/>
                <a:cs typeface="Segoe UI" panose="020B0502040204020203" pitchFamily="34" charset="0"/>
              </a:rPr>
              <a:t>$2a$10$D8...</a:t>
            </a:r>
          </a:p>
        </p:txBody>
      </p:sp>
      <p:cxnSp>
        <p:nvCxnSpPr>
          <p:cNvPr id="60" name="Connettore 2 59">
            <a:extLst>
              <a:ext uri="{FF2B5EF4-FFF2-40B4-BE49-F238E27FC236}">
                <a16:creationId xmlns:a16="http://schemas.microsoft.com/office/drawing/2014/main" id="{EE38F2A8-4273-F3A2-ECE2-2B968BE6761B}"/>
              </a:ext>
            </a:extLst>
          </p:cNvPr>
          <p:cNvCxnSpPr>
            <a:cxnSpLocks/>
            <a:stCxn id="53" idx="3"/>
            <a:endCxn id="57" idx="1"/>
          </p:cNvCxnSpPr>
          <p:nvPr/>
        </p:nvCxnSpPr>
        <p:spPr>
          <a:xfrm>
            <a:off x="6237617" y="4385984"/>
            <a:ext cx="655490" cy="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055" name="CasellaDiTesto 2054">
            <a:extLst>
              <a:ext uri="{FF2B5EF4-FFF2-40B4-BE49-F238E27FC236}">
                <a16:creationId xmlns:a16="http://schemas.microsoft.com/office/drawing/2014/main" id="{16B1DA68-A0FC-5931-3175-7B6BE3107C9E}"/>
              </a:ext>
            </a:extLst>
          </p:cNvPr>
          <p:cNvSpPr txBox="1"/>
          <p:nvPr/>
        </p:nvSpPr>
        <p:spPr>
          <a:xfrm>
            <a:off x="4929145" y="3751465"/>
            <a:ext cx="17487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i="1" err="1">
                <a:solidFill>
                  <a:srgbClr val="00336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Hashing</a:t>
            </a:r>
            <a:r>
              <a:rPr lang="it-IT" b="1" i="1">
                <a:solidFill>
                  <a:srgbClr val="00336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+ </a:t>
            </a:r>
            <a:r>
              <a:rPr lang="it-IT" b="1" i="1" err="1">
                <a:solidFill>
                  <a:srgbClr val="00336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Salting</a:t>
            </a:r>
            <a:endParaRPr lang="it-IT" b="1" i="1">
              <a:solidFill>
                <a:srgbClr val="003366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057" name="CasellaDiTesto 2056">
            <a:extLst>
              <a:ext uri="{FF2B5EF4-FFF2-40B4-BE49-F238E27FC236}">
                <a16:creationId xmlns:a16="http://schemas.microsoft.com/office/drawing/2014/main" id="{E6512D31-1BFC-F15A-016F-FE258CADAB6A}"/>
              </a:ext>
            </a:extLst>
          </p:cNvPr>
          <p:cNvSpPr txBox="1"/>
          <p:nvPr/>
        </p:nvSpPr>
        <p:spPr>
          <a:xfrm>
            <a:off x="4671523" y="3532638"/>
            <a:ext cx="23111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i="1">
                <a:solidFill>
                  <a:srgbClr val="00336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Spring Password Encoder</a:t>
            </a:r>
          </a:p>
        </p:txBody>
      </p:sp>
      <p:sp>
        <p:nvSpPr>
          <p:cNvPr id="2058" name="CasellaDiTesto 2057">
            <a:extLst>
              <a:ext uri="{FF2B5EF4-FFF2-40B4-BE49-F238E27FC236}">
                <a16:creationId xmlns:a16="http://schemas.microsoft.com/office/drawing/2014/main" id="{032A0F06-F14D-46AF-E59D-B6840184E3A3}"/>
              </a:ext>
            </a:extLst>
          </p:cNvPr>
          <p:cNvSpPr txBox="1"/>
          <p:nvPr/>
        </p:nvSpPr>
        <p:spPr>
          <a:xfrm>
            <a:off x="6947774" y="3344084"/>
            <a:ext cx="149657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i="1">
                <a:solidFill>
                  <a:srgbClr val="00336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Password sempre </a:t>
            </a:r>
            <a:r>
              <a:rPr lang="it-IT" b="1" i="1" err="1">
                <a:solidFill>
                  <a:srgbClr val="00336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hashata</a:t>
            </a:r>
            <a:r>
              <a:rPr lang="it-IT" b="1" i="1">
                <a:solidFill>
                  <a:srgbClr val="00336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su DB</a:t>
            </a:r>
          </a:p>
        </p:txBody>
      </p:sp>
      <p:sp>
        <p:nvSpPr>
          <p:cNvPr id="2059" name="CasellaDiTesto 2058">
            <a:extLst>
              <a:ext uri="{FF2B5EF4-FFF2-40B4-BE49-F238E27FC236}">
                <a16:creationId xmlns:a16="http://schemas.microsoft.com/office/drawing/2014/main" id="{5E87ED99-DA09-B133-A16B-306F411C951C}"/>
              </a:ext>
            </a:extLst>
          </p:cNvPr>
          <p:cNvSpPr txBox="1"/>
          <p:nvPr/>
        </p:nvSpPr>
        <p:spPr>
          <a:xfrm>
            <a:off x="3189044" y="3256363"/>
            <a:ext cx="129564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 b="1" i="1">
                <a:solidFill>
                  <a:srgbClr val="00336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Password </a:t>
            </a:r>
            <a:r>
              <a:rPr lang="it-IT" sz="1200" b="1" i="1" err="1">
                <a:solidFill>
                  <a:srgbClr val="00336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plain</a:t>
            </a:r>
            <a:r>
              <a:rPr lang="it-IT" sz="1200" b="1" i="1">
                <a:solidFill>
                  <a:srgbClr val="00336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-text solo nei DTO verso il </a:t>
            </a:r>
            <a:r>
              <a:rPr lang="it-IT" sz="1200" b="1" i="1" err="1">
                <a:solidFill>
                  <a:srgbClr val="00336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Backend</a:t>
            </a:r>
            <a:endParaRPr lang="it-IT" sz="1200" b="1" i="1">
              <a:solidFill>
                <a:srgbClr val="003366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176172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1000"/>
                                        <p:tgtEl>
                                          <p:spTgt spid="20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20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20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7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1000"/>
                                        <p:tgtEl>
                                          <p:spTgt spid="20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2" dur="1000" fill="hold"/>
                                        <p:tgtEl>
                                          <p:spTgt spid="20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20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1000"/>
                                        <p:tgtEl>
                                          <p:spTgt spid="20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7" dur="1000" fill="hold"/>
                                        <p:tgtEl>
                                          <p:spTgt spid="20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20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4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1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1000"/>
                                        <p:tgtEl>
                                          <p:spTgt spid="20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6" dur="1000" fill="hold"/>
                                        <p:tgtEl>
                                          <p:spTgt spid="20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1000" fill="hold"/>
                                        <p:tgtEl>
                                          <p:spTgt spid="20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" grpId="0" animBg="1"/>
      <p:bldP spid="10" grpId="0" animBg="1"/>
      <p:bldP spid="18" grpId="0" animBg="1"/>
      <p:bldP spid="33" grpId="0" animBg="1"/>
      <p:bldP spid="38" grpId="0"/>
      <p:bldP spid="43" grpId="0"/>
      <p:bldP spid="44" grpId="0"/>
      <p:bldP spid="48" grpId="0"/>
      <p:bldP spid="49" grpId="0"/>
      <p:bldP spid="50" grpId="0" animBg="1"/>
      <p:bldP spid="53" grpId="0" animBg="1"/>
      <p:bldP spid="57" grpId="0" animBg="1"/>
      <p:bldP spid="2055" grpId="0"/>
      <p:bldP spid="2057" grpId="0"/>
      <p:bldP spid="2058" grpId="0"/>
      <p:bldP spid="205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B3EB14B-D4EA-652B-47ED-6263936DC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Testing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EC6E0F11-8521-4354-AEFB-12CDB0A6496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mtClean="0"/>
              <a:t>6</a:t>
            </a:fld>
            <a:endParaRPr lang="it-IT"/>
          </a:p>
        </p:txBody>
      </p:sp>
      <p:pic>
        <p:nvPicPr>
          <p:cNvPr id="6" name="Immagine 5" descr="Immagine che contiene testo, schermata, Carattere, numero&#10;&#10;Il contenuto generato dall'IA potrebbe non essere corretto.">
            <a:extLst>
              <a:ext uri="{FF2B5EF4-FFF2-40B4-BE49-F238E27FC236}">
                <a16:creationId xmlns:a16="http://schemas.microsoft.com/office/drawing/2014/main" id="{B181D1F5-80EC-E72B-1627-5465CCF32C7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067" r="7532"/>
          <a:stretch>
            <a:fillRect/>
          </a:stretch>
        </p:blipFill>
        <p:spPr>
          <a:xfrm>
            <a:off x="2171700" y="633677"/>
            <a:ext cx="3845379" cy="2751362"/>
          </a:xfrm>
          <a:prstGeom prst="rect">
            <a:avLst/>
          </a:prstGeom>
        </p:spPr>
      </p:pic>
      <p:pic>
        <p:nvPicPr>
          <p:cNvPr id="8" name="Immagine 7" descr="Immagine che contiene testo, schermata, Carattere, numero&#10;&#10;Il contenuto generato dall'IA potrebbe non essere corretto.">
            <a:extLst>
              <a:ext uri="{FF2B5EF4-FFF2-40B4-BE49-F238E27FC236}">
                <a16:creationId xmlns:a16="http://schemas.microsoft.com/office/drawing/2014/main" id="{7FCCCAB2-D796-243D-4DA7-D2F423349A8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247" r="6155" b="2869"/>
          <a:stretch>
            <a:fillRect/>
          </a:stretch>
        </p:blipFill>
        <p:spPr>
          <a:xfrm>
            <a:off x="6017079" y="573154"/>
            <a:ext cx="3069143" cy="2811885"/>
          </a:xfrm>
          <a:prstGeom prst="rect">
            <a:avLst/>
          </a:prstGeom>
        </p:spPr>
      </p:pic>
      <p:sp>
        <p:nvSpPr>
          <p:cNvPr id="9" name="CasellaDiTesto 8">
            <a:extLst>
              <a:ext uri="{FF2B5EF4-FFF2-40B4-BE49-F238E27FC236}">
                <a16:creationId xmlns:a16="http://schemas.microsoft.com/office/drawing/2014/main" id="{B4ED0684-CFB6-F243-D3E3-46F116364E5B}"/>
              </a:ext>
            </a:extLst>
          </p:cNvPr>
          <p:cNvSpPr txBox="1"/>
          <p:nvPr/>
        </p:nvSpPr>
        <p:spPr>
          <a:xfrm>
            <a:off x="2324056" y="146024"/>
            <a:ext cx="33833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1">
                <a:solidFill>
                  <a:srgbClr val="003366"/>
                </a:solidFill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Update</a:t>
            </a:r>
            <a:r>
              <a:rPr lang="it-IT" b="1">
                <a:solidFill>
                  <a:srgbClr val="003366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it-IT" b="1" err="1">
                <a:solidFill>
                  <a:srgbClr val="003366"/>
                </a:solidFill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Issue</a:t>
            </a:r>
            <a:endParaRPr lang="it-IT" b="1">
              <a:solidFill>
                <a:srgbClr val="003366"/>
              </a:solidFill>
              <a:latin typeface="Segoe UI" panose="020B0502040204020203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BB33A99B-DB01-C0B9-01A4-B654DF7E283E}"/>
              </a:ext>
            </a:extLst>
          </p:cNvPr>
          <p:cNvSpPr txBox="1"/>
          <p:nvPr/>
        </p:nvSpPr>
        <p:spPr>
          <a:xfrm>
            <a:off x="5827553" y="146023"/>
            <a:ext cx="31599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1">
                <a:solidFill>
                  <a:srgbClr val="00336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Assegna </a:t>
            </a:r>
            <a:r>
              <a:rPr lang="it-IT" b="1" err="1">
                <a:solidFill>
                  <a:srgbClr val="00336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Issue</a:t>
            </a:r>
            <a:endParaRPr lang="it-IT" b="1">
              <a:solidFill>
                <a:srgbClr val="003366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BFE1AA56-1E34-B502-61FD-DF4E8ECA03AE}"/>
              </a:ext>
            </a:extLst>
          </p:cNvPr>
          <p:cNvSpPr txBox="1"/>
          <p:nvPr/>
        </p:nvSpPr>
        <p:spPr>
          <a:xfrm>
            <a:off x="2324056" y="3674037"/>
            <a:ext cx="644525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000" b="1" i="1">
                <a:solidFill>
                  <a:srgbClr val="00336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Funzionalità testata: Gestione </a:t>
            </a:r>
            <a:r>
              <a:rPr lang="it-IT" sz="2000" b="1" i="1" err="1">
                <a:solidFill>
                  <a:srgbClr val="00336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Issue</a:t>
            </a:r>
            <a:endParaRPr lang="it-IT" sz="2000" b="1" i="1">
              <a:solidFill>
                <a:srgbClr val="003366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000" b="1" i="1">
                <a:solidFill>
                  <a:srgbClr val="00336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Strategia Test: Black Box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000" b="1" i="1">
                <a:solidFill>
                  <a:srgbClr val="00336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Modalità: R-WECT (Single-point </a:t>
            </a:r>
            <a:r>
              <a:rPr lang="it-IT" sz="2000" b="1" i="1" err="1">
                <a:solidFill>
                  <a:srgbClr val="00336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failure</a:t>
            </a:r>
            <a:r>
              <a:rPr lang="it-IT" sz="2000" b="1" i="1">
                <a:solidFill>
                  <a:srgbClr val="00336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it-IT" sz="2000" b="1" i="1" err="1">
                <a:solidFill>
                  <a:srgbClr val="00336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assumption</a:t>
            </a:r>
            <a:r>
              <a:rPr lang="it-IT" sz="2000" b="1" i="1">
                <a:solidFill>
                  <a:srgbClr val="00336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581860887"/>
      </p:ext>
    </p:extLst>
  </p:cSld>
  <p:clrMapOvr>
    <a:masterClrMapping/>
  </p:clrMapOvr>
  <p:transition spd="slow">
    <p:cove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F2F0A0E-0270-FF9F-0CD6-7C66FE8DD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Qualità del codice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E445F642-DE8F-CC4D-AB5F-CDCFC9F97F3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mtClean="0"/>
              <a:t>7</a:t>
            </a:fld>
            <a:endParaRPr lang="it-IT"/>
          </a:p>
        </p:txBody>
      </p:sp>
      <p:pic>
        <p:nvPicPr>
          <p:cNvPr id="3076" name="Picture 4" descr="GitHub Actions. In this tutorial, you will learn about… | by Aliyu Abubakar  | DevOps.dev">
            <a:extLst>
              <a:ext uri="{FF2B5EF4-FFF2-40B4-BE49-F238E27FC236}">
                <a16:creationId xmlns:a16="http://schemas.microsoft.com/office/drawing/2014/main" id="{F8DC85C4-E447-DA76-46CB-2515AC8C444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588" t="5554" r="24264" b="5703"/>
          <a:stretch>
            <a:fillRect/>
          </a:stretch>
        </p:blipFill>
        <p:spPr bwMode="auto">
          <a:xfrm>
            <a:off x="7322525" y="95618"/>
            <a:ext cx="1712400" cy="135361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6" name="Immagine 5" descr="Immagine che contiene testo, schermata, Carattere&#10;&#10;Il contenuto generato dall'IA potrebbe non essere corretto.">
            <a:extLst>
              <a:ext uri="{FF2B5EF4-FFF2-40B4-BE49-F238E27FC236}">
                <a16:creationId xmlns:a16="http://schemas.microsoft.com/office/drawing/2014/main" id="{75FF2A06-19CF-3439-0AAC-B71322BA9B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9302" y="2215408"/>
            <a:ext cx="3057915" cy="53748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8" name="Immagine 7" descr="Immagine che contiene testo, schermata, Carattere&#10;&#10;Il contenuto generato dall'IA potrebbe non essere corretto.">
            <a:extLst>
              <a:ext uri="{FF2B5EF4-FFF2-40B4-BE49-F238E27FC236}">
                <a16:creationId xmlns:a16="http://schemas.microsoft.com/office/drawing/2014/main" id="{A5F73326-4DFE-7BF0-8BE8-70DCCF327A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821" y="3704382"/>
            <a:ext cx="3700104" cy="104631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9" name="CasellaDiTesto 8">
            <a:extLst>
              <a:ext uri="{FF2B5EF4-FFF2-40B4-BE49-F238E27FC236}">
                <a16:creationId xmlns:a16="http://schemas.microsoft.com/office/drawing/2014/main" id="{4A5E664C-375C-AF9A-C381-9395F00FEEA6}"/>
              </a:ext>
            </a:extLst>
          </p:cNvPr>
          <p:cNvSpPr txBox="1"/>
          <p:nvPr/>
        </p:nvSpPr>
        <p:spPr>
          <a:xfrm>
            <a:off x="2649539" y="2215408"/>
            <a:ext cx="28003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800" b="1">
                <a:solidFill>
                  <a:srgbClr val="00336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Pipeline</a:t>
            </a:r>
            <a:br>
              <a:rPr lang="it-IT" sz="1800" b="1">
                <a:solidFill>
                  <a:srgbClr val="00336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it-IT" sz="1800" b="1">
                <a:solidFill>
                  <a:srgbClr val="00336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(Build – Test – Analisi)</a:t>
            </a:r>
          </a:p>
        </p:txBody>
      </p:sp>
      <p:cxnSp>
        <p:nvCxnSpPr>
          <p:cNvPr id="14" name="Connettore curvo 13">
            <a:extLst>
              <a:ext uri="{FF2B5EF4-FFF2-40B4-BE49-F238E27FC236}">
                <a16:creationId xmlns:a16="http://schemas.microsoft.com/office/drawing/2014/main" id="{FCF942BC-57A3-D3E6-14EE-80B48BE87851}"/>
              </a:ext>
            </a:extLst>
          </p:cNvPr>
          <p:cNvCxnSpPr>
            <a:cxnSpLocks/>
          </p:cNvCxnSpPr>
          <p:nvPr/>
        </p:nvCxnSpPr>
        <p:spPr>
          <a:xfrm rot="5400000">
            <a:off x="7369165" y="2851986"/>
            <a:ext cx="951491" cy="753301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C227E4B2-E477-FF36-02D4-DD75E632D3E6}"/>
              </a:ext>
            </a:extLst>
          </p:cNvPr>
          <p:cNvSpPr txBox="1"/>
          <p:nvPr/>
        </p:nvSpPr>
        <p:spPr>
          <a:xfrm>
            <a:off x="2649539" y="3904374"/>
            <a:ext cx="22696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800" b="1">
                <a:solidFill>
                  <a:srgbClr val="00336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Analisi Statica - </a:t>
            </a:r>
            <a:r>
              <a:rPr lang="it-IT" sz="1800" b="1" err="1">
                <a:solidFill>
                  <a:srgbClr val="00336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SonarCloud</a:t>
            </a:r>
            <a:endParaRPr lang="it-IT" sz="1800" b="1">
              <a:solidFill>
                <a:srgbClr val="003366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9" name="Immagine 18">
            <a:extLst>
              <a:ext uri="{FF2B5EF4-FFF2-40B4-BE49-F238E27FC236}">
                <a16:creationId xmlns:a16="http://schemas.microsoft.com/office/drawing/2014/main" id="{F03FA402-B938-9929-4B9B-F8CB519CCE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96213" y="296306"/>
            <a:ext cx="2361521" cy="37249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21" name="Immagine 20" descr="Immagine che contiene schermata, testo, Software multimediale&#10;&#10;Il contenuto generato dall'IA potrebbe non essere corretto.">
            <a:extLst>
              <a:ext uri="{FF2B5EF4-FFF2-40B4-BE49-F238E27FC236}">
                <a16:creationId xmlns:a16="http://schemas.microsoft.com/office/drawing/2014/main" id="{F3D98AAB-EEC1-F806-EC7C-99416C674FA0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55082"/>
          <a:stretch>
            <a:fillRect/>
          </a:stretch>
        </p:blipFill>
        <p:spPr>
          <a:xfrm>
            <a:off x="3896213" y="1080239"/>
            <a:ext cx="1807200" cy="53748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cxnSp>
        <p:nvCxnSpPr>
          <p:cNvPr id="23" name="Connettore curvo 22">
            <a:extLst>
              <a:ext uri="{FF2B5EF4-FFF2-40B4-BE49-F238E27FC236}">
                <a16:creationId xmlns:a16="http://schemas.microsoft.com/office/drawing/2014/main" id="{722F3501-7314-627C-B061-660F41541FCC}"/>
              </a:ext>
            </a:extLst>
          </p:cNvPr>
          <p:cNvCxnSpPr>
            <a:stCxn id="21" idx="3"/>
            <a:endCxn id="6" idx="0"/>
          </p:cNvCxnSpPr>
          <p:nvPr/>
        </p:nvCxnSpPr>
        <p:spPr>
          <a:xfrm>
            <a:off x="5703413" y="1348981"/>
            <a:ext cx="1764847" cy="866427"/>
          </a:xfrm>
          <a:prstGeom prst="curved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7" name="CasellaDiTesto 26">
            <a:extLst>
              <a:ext uri="{FF2B5EF4-FFF2-40B4-BE49-F238E27FC236}">
                <a16:creationId xmlns:a16="http://schemas.microsoft.com/office/drawing/2014/main" id="{A5B41927-0D6D-C944-64E3-42CD77778209}"/>
              </a:ext>
            </a:extLst>
          </p:cNvPr>
          <p:cNvSpPr txBox="1"/>
          <p:nvPr/>
        </p:nvSpPr>
        <p:spPr>
          <a:xfrm>
            <a:off x="2696830" y="1164314"/>
            <a:ext cx="7093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800" b="1">
                <a:solidFill>
                  <a:srgbClr val="00336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Push</a:t>
            </a:r>
          </a:p>
        </p:txBody>
      </p:sp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6318ABC2-2648-7256-4B7A-47607B499BFC}"/>
              </a:ext>
            </a:extLst>
          </p:cNvPr>
          <p:cNvSpPr txBox="1"/>
          <p:nvPr/>
        </p:nvSpPr>
        <p:spPr>
          <a:xfrm>
            <a:off x="2416971" y="299467"/>
            <a:ext cx="13393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800" b="1">
                <a:solidFill>
                  <a:srgbClr val="00336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Workflow</a:t>
            </a:r>
          </a:p>
        </p:txBody>
      </p:sp>
    </p:spTree>
    <p:extLst>
      <p:ext uri="{BB962C8B-B14F-4D97-AF65-F5344CB8AC3E}">
        <p14:creationId xmlns:p14="http://schemas.microsoft.com/office/powerpoint/2010/main" val="1669311257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68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69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0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71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7" grpId="0"/>
      <p:bldP spid="27" grpId="0"/>
      <p:bldP spid="2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llaDiTesto 2">
            <a:extLst>
              <a:ext uri="{FF2B5EF4-FFF2-40B4-BE49-F238E27FC236}">
                <a16:creationId xmlns:a16="http://schemas.microsoft.com/office/drawing/2014/main" id="{9E5082D5-7300-BEC4-A176-CE0DECB9B5DD}"/>
              </a:ext>
            </a:extLst>
          </p:cNvPr>
          <p:cNvSpPr txBox="1"/>
          <p:nvPr/>
        </p:nvSpPr>
        <p:spPr>
          <a:xfrm>
            <a:off x="1211144" y="2156251"/>
            <a:ext cx="672171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48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Grazie per l’attenzione</a:t>
            </a:r>
          </a:p>
        </p:txBody>
      </p:sp>
    </p:spTree>
    <p:extLst>
      <p:ext uri="{BB962C8B-B14F-4D97-AF65-F5344CB8AC3E}">
        <p14:creationId xmlns:p14="http://schemas.microsoft.com/office/powerpoint/2010/main" val="3661538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Aemelia template">
  <a:themeElements>
    <a:clrScheme name="Custom 347">
      <a:dk1>
        <a:srgbClr val="073763"/>
      </a:dk1>
      <a:lt1>
        <a:srgbClr val="FFFFFF"/>
      </a:lt1>
      <a:dk2>
        <a:srgbClr val="3F4247"/>
      </a:dk2>
      <a:lt2>
        <a:srgbClr val="CFD9E1"/>
      </a:lt2>
      <a:accent1>
        <a:srgbClr val="6FA8DC"/>
      </a:accent1>
      <a:accent2>
        <a:srgbClr val="0B5394"/>
      </a:accent2>
      <a:accent3>
        <a:srgbClr val="9FC5E8"/>
      </a:accent3>
      <a:accent4>
        <a:srgbClr val="CFD9E1"/>
      </a:accent4>
      <a:accent5>
        <a:srgbClr val="A1EFFF"/>
      </a:accent5>
      <a:accent6>
        <a:srgbClr val="5AB1C9"/>
      </a:accent6>
      <a:hlink>
        <a:srgbClr val="0B5394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2b58eca2-b8c4-4edf-aeea-a07f7cebdbea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06F55A1F140F142968FFB91A65CB552" ma:contentTypeVersion="8" ma:contentTypeDescription="Create a new document." ma:contentTypeScope="" ma:versionID="cd75b84cf47b6e35bf681979edcb84bf">
  <xsd:schema xmlns:xsd="http://www.w3.org/2001/XMLSchema" xmlns:xs="http://www.w3.org/2001/XMLSchema" xmlns:p="http://schemas.microsoft.com/office/2006/metadata/properties" xmlns:ns3="2b58eca2-b8c4-4edf-aeea-a07f7cebdbea" xmlns:ns4="002df897-35a9-400d-99f6-6642a8dbb2c4" targetNamespace="http://schemas.microsoft.com/office/2006/metadata/properties" ma:root="true" ma:fieldsID="9a10131629c514174c025723dc52b283" ns3:_="" ns4:_="">
    <xsd:import namespace="2b58eca2-b8c4-4edf-aeea-a07f7cebdbea"/>
    <xsd:import namespace="002df897-35a9-400d-99f6-6642a8dbb2c4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b58eca2-b8c4-4edf-aeea-a07f7cebdbe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1" nillable="true" ma:displayName="_activity" ma:hidden="true" ma:internalName="_activity">
      <xsd:simpleType>
        <xsd:restriction base="dms:Note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02df897-35a9-400d-99f6-6642a8dbb2c4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D67BC31-DD0E-438A-B3A0-7EC39369C2DE}">
  <ds:schemaRefs>
    <ds:schemaRef ds:uri="http://purl.org/dc/terms/"/>
    <ds:schemaRef ds:uri="http://purl.org/dc/dcmitype/"/>
    <ds:schemaRef ds:uri="2b58eca2-b8c4-4edf-aeea-a07f7cebdbea"/>
    <ds:schemaRef ds:uri="http://schemas.openxmlformats.org/package/2006/metadata/core-properties"/>
    <ds:schemaRef ds:uri="http://schemas.microsoft.com/office/infopath/2007/PartnerControls"/>
    <ds:schemaRef ds:uri="002df897-35a9-400d-99f6-6642a8dbb2c4"/>
    <ds:schemaRef ds:uri="http://schemas.microsoft.com/office/2006/metadata/properties"/>
    <ds:schemaRef ds:uri="http://schemas.microsoft.com/office/2006/documentManagement/types"/>
    <ds:schemaRef ds:uri="http://www.w3.org/XML/1998/namespace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7777D945-FF94-4C90-8ECC-FEE481C9D1E4}">
  <ds:schemaRefs>
    <ds:schemaRef ds:uri="002df897-35a9-400d-99f6-6642a8dbb2c4"/>
    <ds:schemaRef ds:uri="2b58eca2-b8c4-4edf-aeea-a07f7cebdbe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04E5384E-92A0-42F9-A55C-9B1BC97D72A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248</Words>
  <Application>Microsoft Office PowerPoint</Application>
  <PresentationFormat>Presentazione su schermo (16:9)</PresentationFormat>
  <Paragraphs>87</Paragraphs>
  <Slides>8</Slides>
  <Notes>4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8</vt:i4>
      </vt:variant>
    </vt:vector>
  </HeadingPairs>
  <TitlesOfParts>
    <vt:vector size="14" baseType="lpstr">
      <vt:lpstr>Montserrat</vt:lpstr>
      <vt:lpstr>Segoe UI</vt:lpstr>
      <vt:lpstr>Arial</vt:lpstr>
      <vt:lpstr>Segoe UI Black</vt:lpstr>
      <vt:lpstr>Roboto</vt:lpstr>
      <vt:lpstr>Aemelia template</vt:lpstr>
      <vt:lpstr>BUGBOARD26 </vt:lpstr>
      <vt:lpstr>Architettura del sistema</vt:lpstr>
      <vt:lpstr>Design del frontend</vt:lpstr>
      <vt:lpstr>Design del backend</vt:lpstr>
      <vt:lpstr>Sicurezza</vt:lpstr>
      <vt:lpstr>Testing</vt:lpstr>
      <vt:lpstr>Qualità del codice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Giuseppe Paolo Esposito</dc:creator>
  <cp:lastModifiedBy>GIUSEPPE PAOLO ESPOSITO</cp:lastModifiedBy>
  <cp:revision>1</cp:revision>
  <dcterms:modified xsi:type="dcterms:W3CDTF">2026-01-21T18:46:37Z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0x010100006F55A1F140F142968FFB91A65CB552</vt:lpwstr>
  </property>
</Properties>
</file>